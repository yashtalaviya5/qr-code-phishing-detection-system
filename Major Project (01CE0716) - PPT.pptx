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87" r:id="rId7"/>
    <p:sldId id="261" r:id="rId8"/>
    <p:sldId id="262" r:id="rId9"/>
    <p:sldId id="263" r:id="rId10"/>
    <p:sldId id="264" r:id="rId11"/>
    <p:sldId id="289" r:id="rId12"/>
    <p:sldId id="290" r:id="rId13"/>
    <p:sldId id="291" r:id="rId14"/>
    <p:sldId id="267" r:id="rId15"/>
    <p:sldId id="288" r:id="rId16"/>
    <p:sldId id="269" r:id="rId17"/>
    <p:sldId id="268" r:id="rId18"/>
    <p:sldId id="270" r:id="rId19"/>
    <p:sldId id="283" r:id="rId20"/>
    <p:sldId id="284" r:id="rId21"/>
    <p:sldId id="271" r:id="rId22"/>
    <p:sldId id="281" r:id="rId23"/>
    <p:sldId id="282" r:id="rId24"/>
    <p:sldId id="273" r:id="rId25"/>
    <p:sldId id="274" r:id="rId26"/>
    <p:sldId id="275" r:id="rId27"/>
    <p:sldId id="285" r:id="rId28"/>
    <p:sldId id="286" r:id="rId29"/>
    <p:sldId id="292" r:id="rId30"/>
    <p:sldId id="276" r:id="rId31"/>
    <p:sldId id="277" r:id="rId32"/>
  </p:sldIdLst>
  <p:sldSz cx="12192000" cy="6858000"/>
  <p:notesSz cx="6858000" cy="9144000"/>
  <p:embeddedFontLst>
    <p:embeddedFont>
      <p:font typeface="Proxima Nova"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5">
          <p15:clr>
            <a:srgbClr val="A4A3A4"/>
          </p15:clr>
        </p15:guide>
        <p15:guide id="2" pos="384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3SpsoRXU2fV6xbOO3doHFD+OY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70418C-0AE6-4568-95D4-7BB67D23D1E9}" v="130" dt="2026-07-08T10:27:28.861"/>
  </p1510:revLst>
</p1510:revInfo>
</file>

<file path=ppt/tableStyles.xml><?xml version="1.0" encoding="utf-8"?>
<a:tblStyleLst xmlns:a="http://schemas.openxmlformats.org/drawingml/2006/main" def="{CA4FEF56-FCC3-4894-9D36-9FA669C9C288}">
  <a:tblStyle styleId="{CA4FEF56-FCC3-4894-9D36-9FA669C9C28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85"/>
        <p:guide pos="38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TALAVIYA" userId="a0d1b88011941842" providerId="LiveId" clId="{BE3B889A-249B-4CFE-9086-8169842FF156}"/>
    <pc:docChg chg="undo custSel addSld delSld modSld sldOrd">
      <pc:chgData name="YASH TALAVIYA" userId="a0d1b88011941842" providerId="LiveId" clId="{BE3B889A-249B-4CFE-9086-8169842FF156}" dt="2026-07-08T10:27:28.861" v="1243"/>
      <pc:docMkLst>
        <pc:docMk/>
      </pc:docMkLst>
      <pc:sldChg chg="modSp mod">
        <pc:chgData name="YASH TALAVIYA" userId="a0d1b88011941842" providerId="LiveId" clId="{BE3B889A-249B-4CFE-9086-8169842FF156}" dt="2026-07-08T10:24:14.529" v="1213" actId="20577"/>
        <pc:sldMkLst>
          <pc:docMk/>
          <pc:sldMk cId="0" sldId="257"/>
        </pc:sldMkLst>
        <pc:spChg chg="mod">
          <ac:chgData name="YASH TALAVIYA" userId="a0d1b88011941842" providerId="LiveId" clId="{BE3B889A-249B-4CFE-9086-8169842FF156}" dt="2026-06-29T10:32:02.200" v="184"/>
          <ac:spMkLst>
            <pc:docMk/>
            <pc:sldMk cId="0" sldId="257"/>
            <ac:spMk id="88" creationId="{00000000-0000-0000-0000-000000000000}"/>
          </ac:spMkLst>
        </pc:spChg>
        <pc:spChg chg="mod">
          <ac:chgData name="YASH TALAVIYA" userId="a0d1b88011941842" providerId="LiveId" clId="{BE3B889A-249B-4CFE-9086-8169842FF156}" dt="2026-07-08T10:24:14.529" v="1213" actId="20577"/>
          <ac:spMkLst>
            <pc:docMk/>
            <pc:sldMk cId="0" sldId="257"/>
            <ac:spMk id="89" creationId="{00000000-0000-0000-0000-000000000000}"/>
          </ac:spMkLst>
        </pc:spChg>
        <pc:spChg chg="mod">
          <ac:chgData name="YASH TALAVIYA" userId="a0d1b88011941842" providerId="LiveId" clId="{BE3B889A-249B-4CFE-9086-8169842FF156}" dt="2026-06-29T10:31:00.850" v="179" actId="20577"/>
          <ac:spMkLst>
            <pc:docMk/>
            <pc:sldMk cId="0" sldId="257"/>
            <ac:spMk id="93" creationId="{00000000-0000-0000-0000-000000000000}"/>
          </ac:spMkLst>
        </pc:spChg>
      </pc:sldChg>
      <pc:sldChg chg="modSp mod">
        <pc:chgData name="YASH TALAVIYA" userId="a0d1b88011941842" providerId="LiveId" clId="{BE3B889A-249B-4CFE-9086-8169842FF156}" dt="2026-07-06T10:18:55.171" v="595" actId="5793"/>
        <pc:sldMkLst>
          <pc:docMk/>
          <pc:sldMk cId="0" sldId="259"/>
        </pc:sldMkLst>
        <pc:spChg chg="mod">
          <ac:chgData name="YASH TALAVIYA" userId="a0d1b88011941842" providerId="LiveId" clId="{BE3B889A-249B-4CFE-9086-8169842FF156}" dt="2026-07-06T10:18:55.171" v="595" actId="5793"/>
          <ac:spMkLst>
            <pc:docMk/>
            <pc:sldMk cId="0" sldId="259"/>
            <ac:spMk id="106" creationId="{00000000-0000-0000-0000-000000000000}"/>
          </ac:spMkLst>
        </pc:spChg>
      </pc:sldChg>
      <pc:sldChg chg="modSp mod">
        <pc:chgData name="YASH TALAVIYA" userId="a0d1b88011941842" providerId="LiveId" clId="{BE3B889A-249B-4CFE-9086-8169842FF156}" dt="2026-07-08T10:23:29.998" v="1203" actId="20577"/>
        <pc:sldMkLst>
          <pc:docMk/>
          <pc:sldMk cId="0" sldId="260"/>
        </pc:sldMkLst>
        <pc:spChg chg="mod">
          <ac:chgData name="YASH TALAVIYA" userId="a0d1b88011941842" providerId="LiveId" clId="{BE3B889A-249B-4CFE-9086-8169842FF156}" dt="2026-07-06T10:24:31.556" v="647" actId="14100"/>
          <ac:spMkLst>
            <pc:docMk/>
            <pc:sldMk cId="0" sldId="260"/>
            <ac:spMk id="111" creationId="{00000000-0000-0000-0000-000000000000}"/>
          </ac:spMkLst>
        </pc:spChg>
        <pc:spChg chg="mod">
          <ac:chgData name="YASH TALAVIYA" userId="a0d1b88011941842" providerId="LiveId" clId="{BE3B889A-249B-4CFE-9086-8169842FF156}" dt="2026-07-08T10:23:29.998" v="1203" actId="20577"/>
          <ac:spMkLst>
            <pc:docMk/>
            <pc:sldMk cId="0" sldId="260"/>
            <ac:spMk id="112" creationId="{00000000-0000-0000-0000-000000000000}"/>
          </ac:spMkLst>
        </pc:spChg>
      </pc:sldChg>
      <pc:sldChg chg="modSp mod">
        <pc:chgData name="YASH TALAVIYA" userId="a0d1b88011941842" providerId="LiveId" clId="{BE3B889A-249B-4CFE-9086-8169842FF156}" dt="2026-06-29T10:33:58.868" v="195" actId="1076"/>
        <pc:sldMkLst>
          <pc:docMk/>
          <pc:sldMk cId="0" sldId="261"/>
        </pc:sldMkLst>
        <pc:picChg chg="mod">
          <ac:chgData name="YASH TALAVIYA" userId="a0d1b88011941842" providerId="LiveId" clId="{BE3B889A-249B-4CFE-9086-8169842FF156}" dt="2026-06-29T10:33:58.868" v="195" actId="1076"/>
          <ac:picMkLst>
            <pc:docMk/>
            <pc:sldMk cId="0" sldId="261"/>
            <ac:picMk id="118" creationId="{00000000-0000-0000-0000-000000000000}"/>
          </ac:picMkLst>
        </pc:picChg>
      </pc:sldChg>
      <pc:sldChg chg="modSp mod">
        <pc:chgData name="YASH TALAVIYA" userId="a0d1b88011941842" providerId="LiveId" clId="{BE3B889A-249B-4CFE-9086-8169842FF156}" dt="2026-07-06T10:28:30.144" v="717" actId="113"/>
        <pc:sldMkLst>
          <pc:docMk/>
          <pc:sldMk cId="0" sldId="262"/>
        </pc:sldMkLst>
        <pc:spChg chg="mod">
          <ac:chgData name="YASH TALAVIYA" userId="a0d1b88011941842" providerId="LiveId" clId="{BE3B889A-249B-4CFE-9086-8169842FF156}" dt="2026-07-06T10:28:30.144" v="717" actId="113"/>
          <ac:spMkLst>
            <pc:docMk/>
            <pc:sldMk cId="0" sldId="262"/>
            <ac:spMk id="124" creationId="{00000000-0000-0000-0000-000000000000}"/>
          </ac:spMkLst>
        </pc:spChg>
      </pc:sldChg>
      <pc:sldChg chg="modSp mod">
        <pc:chgData name="YASH TALAVIYA" userId="a0d1b88011941842" providerId="LiveId" clId="{BE3B889A-249B-4CFE-9086-8169842FF156}" dt="2026-07-06T10:29:38.592" v="729" actId="207"/>
        <pc:sldMkLst>
          <pc:docMk/>
          <pc:sldMk cId="0" sldId="263"/>
        </pc:sldMkLst>
        <pc:spChg chg="mod">
          <ac:chgData name="YASH TALAVIYA" userId="a0d1b88011941842" providerId="LiveId" clId="{BE3B889A-249B-4CFE-9086-8169842FF156}" dt="2026-07-06T10:29:38.592" v="729" actId="207"/>
          <ac:spMkLst>
            <pc:docMk/>
            <pc:sldMk cId="0" sldId="263"/>
            <ac:spMk id="130" creationId="{00000000-0000-0000-0000-000000000000}"/>
          </ac:spMkLst>
        </pc:spChg>
      </pc:sldChg>
      <pc:sldChg chg="addSp delSp modSp mod">
        <pc:chgData name="YASH TALAVIYA" userId="a0d1b88011941842" providerId="LiveId" clId="{BE3B889A-249B-4CFE-9086-8169842FF156}" dt="2026-07-06T10:37:31.800" v="895"/>
        <pc:sldMkLst>
          <pc:docMk/>
          <pc:sldMk cId="0" sldId="264"/>
        </pc:sldMkLst>
        <pc:graphicFrameChg chg="add del mod modGraphic">
          <ac:chgData name="YASH TALAVIYA" userId="a0d1b88011941842" providerId="LiveId" clId="{BE3B889A-249B-4CFE-9086-8169842FF156}" dt="2026-07-06T10:37:31.800" v="895"/>
          <ac:graphicFrameMkLst>
            <pc:docMk/>
            <pc:sldMk cId="0" sldId="264"/>
            <ac:graphicFrameMk id="2" creationId="{6AA5AAF1-CF31-02B5-5203-B47CF9805FDD}"/>
          </ac:graphicFrameMkLst>
        </pc:graphicFrameChg>
      </pc:sldChg>
      <pc:sldChg chg="addSp delSp modSp mod">
        <pc:chgData name="YASH TALAVIYA" userId="a0d1b88011941842" providerId="LiveId" clId="{BE3B889A-249B-4CFE-9086-8169842FF156}" dt="2026-07-06T11:21:16.992" v="1197" actId="20577"/>
        <pc:sldMkLst>
          <pc:docMk/>
          <pc:sldMk cId="0" sldId="267"/>
        </pc:sldMkLst>
        <pc:spChg chg="mod">
          <ac:chgData name="YASH TALAVIYA" userId="a0d1b88011941842" providerId="LiveId" clId="{BE3B889A-249B-4CFE-9086-8169842FF156}" dt="2026-07-06T10:30:36.622" v="768" actId="20577"/>
          <ac:spMkLst>
            <pc:docMk/>
            <pc:sldMk cId="0" sldId="267"/>
            <ac:spMk id="153" creationId="{00000000-0000-0000-0000-000000000000}"/>
          </ac:spMkLst>
        </pc:spChg>
        <pc:graphicFrameChg chg="add mod modGraphic">
          <ac:chgData name="YASH TALAVIYA" userId="a0d1b88011941842" providerId="LiveId" clId="{BE3B889A-249B-4CFE-9086-8169842FF156}" dt="2026-07-06T11:21:16.992" v="1197" actId="20577"/>
          <ac:graphicFrameMkLst>
            <pc:docMk/>
            <pc:sldMk cId="0" sldId="267"/>
            <ac:graphicFrameMk id="2" creationId="{8B20CA6D-483F-E00A-2E94-F59D37F8F501}"/>
          </ac:graphicFrameMkLst>
        </pc:graphicFrameChg>
      </pc:sldChg>
      <pc:sldChg chg="modSp mod">
        <pc:chgData name="YASH TALAVIYA" userId="a0d1b88011941842" providerId="LiveId" clId="{BE3B889A-249B-4CFE-9086-8169842FF156}" dt="2026-07-06T11:20:30.691" v="1194" actId="20577"/>
        <pc:sldMkLst>
          <pc:docMk/>
          <pc:sldMk cId="0" sldId="268"/>
        </pc:sldMkLst>
        <pc:spChg chg="mod">
          <ac:chgData name="YASH TALAVIYA" userId="a0d1b88011941842" providerId="LiveId" clId="{BE3B889A-249B-4CFE-9086-8169842FF156}" dt="2026-07-06T11:14:27.379" v="1108" actId="14100"/>
          <ac:spMkLst>
            <pc:docMk/>
            <pc:sldMk cId="0" sldId="268"/>
            <ac:spMk id="159" creationId="{00000000-0000-0000-0000-000000000000}"/>
          </ac:spMkLst>
        </pc:spChg>
        <pc:spChg chg="mod">
          <ac:chgData name="YASH TALAVIYA" userId="a0d1b88011941842" providerId="LiveId" clId="{BE3B889A-249B-4CFE-9086-8169842FF156}" dt="2026-07-06T11:20:30.691" v="1194" actId="20577"/>
          <ac:spMkLst>
            <pc:docMk/>
            <pc:sldMk cId="0" sldId="268"/>
            <ac:spMk id="160" creationId="{00000000-0000-0000-0000-000000000000}"/>
          </ac:spMkLst>
        </pc:spChg>
      </pc:sldChg>
      <pc:sldChg chg="addSp delSp modSp mod ord">
        <pc:chgData name="YASH TALAVIYA" userId="a0d1b88011941842" providerId="LiveId" clId="{BE3B889A-249B-4CFE-9086-8169842FF156}" dt="2026-07-06T11:08:18.506" v="984" actId="1076"/>
        <pc:sldMkLst>
          <pc:docMk/>
          <pc:sldMk cId="0" sldId="269"/>
        </pc:sldMkLst>
        <pc:spChg chg="mod">
          <ac:chgData name="YASH TALAVIYA" userId="a0d1b88011941842" providerId="LiveId" clId="{BE3B889A-249B-4CFE-9086-8169842FF156}" dt="2026-07-06T11:06:08.470" v="975" actId="14100"/>
          <ac:spMkLst>
            <pc:docMk/>
            <pc:sldMk cId="0" sldId="269"/>
            <ac:spMk id="165" creationId="{00000000-0000-0000-0000-000000000000}"/>
          </ac:spMkLst>
        </pc:spChg>
        <pc:picChg chg="add del mod">
          <ac:chgData name="YASH TALAVIYA" userId="a0d1b88011941842" providerId="LiveId" clId="{BE3B889A-249B-4CFE-9086-8169842FF156}" dt="2026-07-06T11:08:18.506" v="984" actId="1076"/>
          <ac:picMkLst>
            <pc:docMk/>
            <pc:sldMk cId="0" sldId="269"/>
            <ac:picMk id="166" creationId="{00000000-0000-0000-0000-000000000000}"/>
          </ac:picMkLst>
        </pc:picChg>
      </pc:sldChg>
      <pc:sldChg chg="modSp mod">
        <pc:chgData name="YASH TALAVIYA" userId="a0d1b88011941842" providerId="LiveId" clId="{BE3B889A-249B-4CFE-9086-8169842FF156}" dt="2026-06-29T11:23:36.184" v="548" actId="2710"/>
        <pc:sldMkLst>
          <pc:docMk/>
          <pc:sldMk cId="0" sldId="270"/>
        </pc:sldMkLst>
        <pc:spChg chg="mod">
          <ac:chgData name="YASH TALAVIYA" userId="a0d1b88011941842" providerId="LiveId" clId="{BE3B889A-249B-4CFE-9086-8169842FF156}" dt="2026-06-29T11:23:36.184" v="548" actId="2710"/>
          <ac:spMkLst>
            <pc:docMk/>
            <pc:sldMk cId="0" sldId="270"/>
            <ac:spMk id="172" creationId="{00000000-0000-0000-0000-000000000000}"/>
          </ac:spMkLst>
        </pc:spChg>
      </pc:sldChg>
      <pc:sldChg chg="addSp delSp modSp mod ord">
        <pc:chgData name="YASH TALAVIYA" userId="a0d1b88011941842" providerId="LiveId" clId="{BE3B889A-249B-4CFE-9086-8169842FF156}" dt="2026-07-08T10:22:17.744" v="1202"/>
        <pc:sldMkLst>
          <pc:docMk/>
          <pc:sldMk cId="0" sldId="271"/>
        </pc:sldMkLst>
        <pc:spChg chg="mod">
          <ac:chgData name="YASH TALAVIYA" userId="a0d1b88011941842" providerId="LiveId" clId="{BE3B889A-249B-4CFE-9086-8169842FF156}" dt="2026-06-29T10:53:36.882" v="431" actId="20577"/>
          <ac:spMkLst>
            <pc:docMk/>
            <pc:sldMk cId="0" sldId="271"/>
            <ac:spMk id="177" creationId="{00000000-0000-0000-0000-000000000000}"/>
          </ac:spMkLst>
        </pc:spChg>
        <pc:picChg chg="add mod">
          <ac:chgData name="YASH TALAVIYA" userId="a0d1b88011941842" providerId="LiveId" clId="{BE3B889A-249B-4CFE-9086-8169842FF156}" dt="2026-06-29T10:48:26.280" v="344" actId="1076"/>
          <ac:picMkLst>
            <pc:docMk/>
            <pc:sldMk cId="0" sldId="271"/>
            <ac:picMk id="3" creationId="{41A62FFA-C160-43FB-4131-A1A04598A553}"/>
          </ac:picMkLst>
        </pc:picChg>
      </pc:sldChg>
      <pc:sldChg chg="modSp mod">
        <pc:chgData name="YASH TALAVIYA" userId="a0d1b88011941842" providerId="LiveId" clId="{BE3B889A-249B-4CFE-9086-8169842FF156}" dt="2026-07-06T11:21:49.886" v="1198" actId="207"/>
        <pc:sldMkLst>
          <pc:docMk/>
          <pc:sldMk cId="0" sldId="273"/>
        </pc:sldMkLst>
        <pc:spChg chg="mod">
          <ac:chgData name="YASH TALAVIYA" userId="a0d1b88011941842" providerId="LiveId" clId="{BE3B889A-249B-4CFE-9086-8169842FF156}" dt="2026-07-06T11:21:49.886" v="1198" actId="207"/>
          <ac:spMkLst>
            <pc:docMk/>
            <pc:sldMk cId="0" sldId="273"/>
            <ac:spMk id="192" creationId="{00000000-0000-0000-0000-000000000000}"/>
          </ac:spMkLst>
        </pc:spChg>
      </pc:sldChg>
      <pc:sldChg chg="modSp mod">
        <pc:chgData name="YASH TALAVIYA" userId="a0d1b88011941842" providerId="LiveId" clId="{BE3B889A-249B-4CFE-9086-8169842FF156}" dt="2026-06-29T11:27:15.724" v="594" actId="20577"/>
        <pc:sldMkLst>
          <pc:docMk/>
          <pc:sldMk cId="0" sldId="274"/>
        </pc:sldMkLst>
        <pc:spChg chg="mod">
          <ac:chgData name="YASH TALAVIYA" userId="a0d1b88011941842" providerId="LiveId" clId="{BE3B889A-249B-4CFE-9086-8169842FF156}" dt="2026-06-29T11:27:15.724" v="594" actId="20577"/>
          <ac:spMkLst>
            <pc:docMk/>
            <pc:sldMk cId="0" sldId="274"/>
            <ac:spMk id="198" creationId="{00000000-0000-0000-0000-000000000000}"/>
          </ac:spMkLst>
        </pc:spChg>
      </pc:sldChg>
      <pc:sldChg chg="modSp mod">
        <pc:chgData name="YASH TALAVIYA" userId="a0d1b88011941842" providerId="LiveId" clId="{BE3B889A-249B-4CFE-9086-8169842FF156}" dt="2026-07-08T10:25:52.408" v="1215" actId="21"/>
        <pc:sldMkLst>
          <pc:docMk/>
          <pc:sldMk cId="0" sldId="275"/>
        </pc:sldMkLst>
        <pc:spChg chg="mod">
          <ac:chgData name="YASH TALAVIYA" userId="a0d1b88011941842" providerId="LiveId" clId="{BE3B889A-249B-4CFE-9086-8169842FF156}" dt="2026-07-08T10:25:52.408" v="1215" actId="21"/>
          <ac:spMkLst>
            <pc:docMk/>
            <pc:sldMk cId="0" sldId="275"/>
            <ac:spMk id="204" creationId="{00000000-0000-0000-0000-000000000000}"/>
          </ac:spMkLst>
        </pc:spChg>
      </pc:sldChg>
      <pc:sldChg chg="addSp delSp modSp add mod ord">
        <pc:chgData name="YASH TALAVIYA" userId="a0d1b88011941842" providerId="LiveId" clId="{BE3B889A-249B-4CFE-9086-8169842FF156}" dt="2026-07-08T10:22:13.956" v="1200"/>
        <pc:sldMkLst>
          <pc:docMk/>
          <pc:sldMk cId="1961082806" sldId="281"/>
        </pc:sldMkLst>
        <pc:spChg chg="mod">
          <ac:chgData name="YASH TALAVIYA" userId="a0d1b88011941842" providerId="LiveId" clId="{BE3B889A-249B-4CFE-9086-8169842FF156}" dt="2026-06-29T10:53:25.741" v="417" actId="14100"/>
          <ac:spMkLst>
            <pc:docMk/>
            <pc:sldMk cId="1961082806" sldId="281"/>
            <ac:spMk id="177" creationId="{E33EF3CE-3FBA-B3F9-9055-858BDDBD48E9}"/>
          </ac:spMkLst>
        </pc:spChg>
        <pc:picChg chg="add mod">
          <ac:chgData name="YASH TALAVIYA" userId="a0d1b88011941842" providerId="LiveId" clId="{BE3B889A-249B-4CFE-9086-8169842FF156}" dt="2026-06-29T10:47:44.001" v="336" actId="1076"/>
          <ac:picMkLst>
            <pc:docMk/>
            <pc:sldMk cId="1961082806" sldId="281"/>
            <ac:picMk id="3" creationId="{4E514B30-3C44-E370-1C00-29B09BDF8ACA}"/>
          </ac:picMkLst>
        </pc:picChg>
      </pc:sldChg>
      <pc:sldChg chg="modSp add mod ord">
        <pc:chgData name="YASH TALAVIYA" userId="a0d1b88011941842" providerId="LiveId" clId="{BE3B889A-249B-4CFE-9086-8169842FF156}" dt="2026-06-29T10:54:48.407" v="478" actId="20577"/>
        <pc:sldMkLst>
          <pc:docMk/>
          <pc:sldMk cId="1452568766" sldId="282"/>
        </pc:sldMkLst>
        <pc:spChg chg="mod">
          <ac:chgData name="YASH TALAVIYA" userId="a0d1b88011941842" providerId="LiveId" clId="{BE3B889A-249B-4CFE-9086-8169842FF156}" dt="2026-06-29T10:54:48.407" v="478" actId="20577"/>
          <ac:spMkLst>
            <pc:docMk/>
            <pc:sldMk cId="1452568766" sldId="282"/>
            <ac:spMk id="177" creationId="{3E193833-D79F-EE27-17A7-8FED9B3DE5F1}"/>
          </ac:spMkLst>
        </pc:spChg>
        <pc:picChg chg="mod">
          <ac:chgData name="YASH TALAVIYA" userId="a0d1b88011941842" providerId="LiveId" clId="{BE3B889A-249B-4CFE-9086-8169842FF156}" dt="2026-06-29T10:51:43.544" v="360" actId="1076"/>
          <ac:picMkLst>
            <pc:docMk/>
            <pc:sldMk cId="1452568766" sldId="282"/>
            <ac:picMk id="178" creationId="{A98140C5-3515-BA6F-16A3-E65F76C02C83}"/>
          </ac:picMkLst>
        </pc:picChg>
        <pc:picChg chg="mod">
          <ac:chgData name="YASH TALAVIYA" userId="a0d1b88011941842" providerId="LiveId" clId="{BE3B889A-249B-4CFE-9086-8169842FF156}" dt="2026-06-29T10:51:43.544" v="360" actId="1076"/>
          <ac:picMkLst>
            <pc:docMk/>
            <pc:sldMk cId="1452568766" sldId="282"/>
            <ac:picMk id="179" creationId="{CA0D8C14-BC77-E31E-606E-F85FB16D4F88}"/>
          </ac:picMkLst>
        </pc:picChg>
      </pc:sldChg>
      <pc:sldChg chg="addSp delSp modSp add mod">
        <pc:chgData name="YASH TALAVIYA" userId="a0d1b88011941842" providerId="LiveId" clId="{BE3B889A-249B-4CFE-9086-8169842FF156}" dt="2026-06-29T10:53:50.773" v="448" actId="14100"/>
        <pc:sldMkLst>
          <pc:docMk/>
          <pc:sldMk cId="2627439387" sldId="283"/>
        </pc:sldMkLst>
        <pc:spChg chg="mod">
          <ac:chgData name="YASH TALAVIYA" userId="a0d1b88011941842" providerId="LiveId" clId="{BE3B889A-249B-4CFE-9086-8169842FF156}" dt="2026-06-29T10:53:50.773" v="448" actId="14100"/>
          <ac:spMkLst>
            <pc:docMk/>
            <pc:sldMk cId="2627439387" sldId="283"/>
            <ac:spMk id="177" creationId="{EDD9165A-40E1-6CF1-A790-A8A5669719B8}"/>
          </ac:spMkLst>
        </pc:spChg>
        <pc:picChg chg="add mod">
          <ac:chgData name="YASH TALAVIYA" userId="a0d1b88011941842" providerId="LiveId" clId="{BE3B889A-249B-4CFE-9086-8169842FF156}" dt="2026-06-29T10:49:16.711" v="351" actId="1076"/>
          <ac:picMkLst>
            <pc:docMk/>
            <pc:sldMk cId="2627439387" sldId="283"/>
            <ac:picMk id="3" creationId="{A548EFD2-9819-CF17-B91D-378E3737018E}"/>
          </ac:picMkLst>
        </pc:picChg>
      </pc:sldChg>
      <pc:sldChg chg="modSp add mod">
        <pc:chgData name="YASH TALAVIYA" userId="a0d1b88011941842" providerId="LiveId" clId="{BE3B889A-249B-4CFE-9086-8169842FF156}" dt="2026-06-29T10:54:05.937" v="471" actId="14100"/>
        <pc:sldMkLst>
          <pc:docMk/>
          <pc:sldMk cId="4222509014" sldId="284"/>
        </pc:sldMkLst>
        <pc:spChg chg="mod">
          <ac:chgData name="YASH TALAVIYA" userId="a0d1b88011941842" providerId="LiveId" clId="{BE3B889A-249B-4CFE-9086-8169842FF156}" dt="2026-06-29T10:54:05.937" v="471" actId="14100"/>
          <ac:spMkLst>
            <pc:docMk/>
            <pc:sldMk cId="4222509014" sldId="284"/>
            <ac:spMk id="177" creationId="{4F47B9B5-2A84-0A4C-BE6E-A0414A9F0D95}"/>
          </ac:spMkLst>
        </pc:spChg>
        <pc:picChg chg="mod">
          <ac:chgData name="YASH TALAVIYA" userId="a0d1b88011941842" providerId="LiveId" clId="{BE3B889A-249B-4CFE-9086-8169842FF156}" dt="2026-06-29T10:49:47.853" v="355" actId="14826"/>
          <ac:picMkLst>
            <pc:docMk/>
            <pc:sldMk cId="4222509014" sldId="284"/>
            <ac:picMk id="3" creationId="{C6C760B8-B6CB-4ECA-4CEC-11A354A63C2E}"/>
          </ac:picMkLst>
        </pc:picChg>
      </pc:sldChg>
      <pc:sldChg chg="modSp add mod">
        <pc:chgData name="YASH TALAVIYA" userId="a0d1b88011941842" providerId="LiveId" clId="{BE3B889A-249B-4CFE-9086-8169842FF156}" dt="2026-07-08T10:26:15.900" v="1218" actId="21"/>
        <pc:sldMkLst>
          <pc:docMk/>
          <pc:sldMk cId="860761560" sldId="285"/>
        </pc:sldMkLst>
        <pc:spChg chg="mod">
          <ac:chgData name="YASH TALAVIYA" userId="a0d1b88011941842" providerId="LiveId" clId="{BE3B889A-249B-4CFE-9086-8169842FF156}" dt="2026-07-08T10:26:15.900" v="1218" actId="21"/>
          <ac:spMkLst>
            <pc:docMk/>
            <pc:sldMk cId="860761560" sldId="285"/>
            <ac:spMk id="204" creationId="{4E0C92F5-1343-4F6A-45B1-37A249F3A476}"/>
          </ac:spMkLst>
        </pc:spChg>
      </pc:sldChg>
      <pc:sldChg chg="modSp add mod">
        <pc:chgData name="YASH TALAVIYA" userId="a0d1b88011941842" providerId="LiveId" clId="{BE3B889A-249B-4CFE-9086-8169842FF156}" dt="2026-07-08T10:27:20.983" v="1241" actId="21"/>
        <pc:sldMkLst>
          <pc:docMk/>
          <pc:sldMk cId="2797183248" sldId="286"/>
        </pc:sldMkLst>
        <pc:spChg chg="mod">
          <ac:chgData name="YASH TALAVIYA" userId="a0d1b88011941842" providerId="LiveId" clId="{BE3B889A-249B-4CFE-9086-8169842FF156}" dt="2026-07-08T10:27:20.983" v="1241" actId="21"/>
          <ac:spMkLst>
            <pc:docMk/>
            <pc:sldMk cId="2797183248" sldId="286"/>
            <ac:spMk id="204" creationId="{8B3D2E4B-1583-1B78-49B6-EDF423EB5C75}"/>
          </ac:spMkLst>
        </pc:spChg>
      </pc:sldChg>
      <pc:sldChg chg="modSp add mod">
        <pc:chgData name="YASH TALAVIYA" userId="a0d1b88011941842" providerId="LiveId" clId="{BE3B889A-249B-4CFE-9086-8169842FF156}" dt="2026-07-06T10:27:54.854" v="706" actId="113"/>
        <pc:sldMkLst>
          <pc:docMk/>
          <pc:sldMk cId="3106878208" sldId="287"/>
        </pc:sldMkLst>
        <pc:spChg chg="mod">
          <ac:chgData name="YASH TALAVIYA" userId="a0d1b88011941842" providerId="LiveId" clId="{BE3B889A-249B-4CFE-9086-8169842FF156}" dt="2026-07-06T10:25:01.792" v="659" actId="14100"/>
          <ac:spMkLst>
            <pc:docMk/>
            <pc:sldMk cId="3106878208" sldId="287"/>
            <ac:spMk id="111" creationId="{B8E4A213-7554-D270-AEBC-5133873FCFF0}"/>
          </ac:spMkLst>
        </pc:spChg>
        <pc:spChg chg="mod">
          <ac:chgData name="YASH TALAVIYA" userId="a0d1b88011941842" providerId="LiveId" clId="{BE3B889A-249B-4CFE-9086-8169842FF156}" dt="2026-07-06T10:27:54.854" v="706" actId="113"/>
          <ac:spMkLst>
            <pc:docMk/>
            <pc:sldMk cId="3106878208" sldId="287"/>
            <ac:spMk id="112" creationId="{0C44AB11-772C-2D28-81A0-EB5F325D5A38}"/>
          </ac:spMkLst>
        </pc:spChg>
      </pc:sldChg>
      <pc:sldChg chg="add">
        <pc:chgData name="YASH TALAVIYA" userId="a0d1b88011941842" providerId="LiveId" clId="{BE3B889A-249B-4CFE-9086-8169842FF156}" dt="2026-07-06T10:30:09.882" v="730" actId="2890"/>
        <pc:sldMkLst>
          <pc:docMk/>
          <pc:sldMk cId="1499925438" sldId="288"/>
        </pc:sldMkLst>
      </pc:sldChg>
      <pc:sldChg chg="modSp add">
        <pc:chgData name="YASH TALAVIYA" userId="a0d1b88011941842" providerId="LiveId" clId="{BE3B889A-249B-4CFE-9086-8169842FF156}" dt="2026-07-06T10:39:20.270" v="915"/>
        <pc:sldMkLst>
          <pc:docMk/>
          <pc:sldMk cId="2872098849" sldId="289"/>
        </pc:sldMkLst>
        <pc:graphicFrameChg chg="mod">
          <ac:chgData name="YASH TALAVIYA" userId="a0d1b88011941842" providerId="LiveId" clId="{BE3B889A-249B-4CFE-9086-8169842FF156}" dt="2026-07-06T10:39:20.270" v="915"/>
          <ac:graphicFrameMkLst>
            <pc:docMk/>
            <pc:sldMk cId="2872098849" sldId="289"/>
            <ac:graphicFrameMk id="2" creationId="{AF1FB5AB-8D6E-4218-99D7-4FC0C6AE2DE8}"/>
          </ac:graphicFrameMkLst>
        </pc:graphicFrameChg>
      </pc:sldChg>
      <pc:sldChg chg="modSp add">
        <pc:chgData name="YASH TALAVIYA" userId="a0d1b88011941842" providerId="LiveId" clId="{BE3B889A-249B-4CFE-9086-8169842FF156}" dt="2026-07-06T10:39:37.314" v="918"/>
        <pc:sldMkLst>
          <pc:docMk/>
          <pc:sldMk cId="2532380533" sldId="290"/>
        </pc:sldMkLst>
        <pc:graphicFrameChg chg="mod">
          <ac:chgData name="YASH TALAVIYA" userId="a0d1b88011941842" providerId="LiveId" clId="{BE3B889A-249B-4CFE-9086-8169842FF156}" dt="2026-07-06T10:39:37.314" v="918"/>
          <ac:graphicFrameMkLst>
            <pc:docMk/>
            <pc:sldMk cId="2532380533" sldId="290"/>
            <ac:graphicFrameMk id="2" creationId="{602C7043-66F0-2651-7CEA-7C5241BFF893}"/>
          </ac:graphicFrameMkLst>
        </pc:graphicFrameChg>
      </pc:sldChg>
      <pc:sldChg chg="modSp add mod">
        <pc:chgData name="YASH TALAVIYA" userId="a0d1b88011941842" providerId="LiveId" clId="{BE3B889A-249B-4CFE-9086-8169842FF156}" dt="2026-07-06T10:39:59.562" v="922" actId="14734"/>
        <pc:sldMkLst>
          <pc:docMk/>
          <pc:sldMk cId="1758494949" sldId="291"/>
        </pc:sldMkLst>
        <pc:graphicFrameChg chg="mod modGraphic">
          <ac:chgData name="YASH TALAVIYA" userId="a0d1b88011941842" providerId="LiveId" clId="{BE3B889A-249B-4CFE-9086-8169842FF156}" dt="2026-07-06T10:39:59.562" v="922" actId="14734"/>
          <ac:graphicFrameMkLst>
            <pc:docMk/>
            <pc:sldMk cId="1758494949" sldId="291"/>
            <ac:graphicFrameMk id="2" creationId="{271E1EA5-B078-8FBE-8C3B-45D56276CC11}"/>
          </ac:graphicFrameMkLst>
        </pc:graphicFrameChg>
      </pc:sldChg>
      <pc:sldChg chg="modSp add">
        <pc:chgData name="YASH TALAVIYA" userId="a0d1b88011941842" providerId="LiveId" clId="{BE3B889A-249B-4CFE-9086-8169842FF156}" dt="2026-07-08T10:27:28.861" v="1243"/>
        <pc:sldMkLst>
          <pc:docMk/>
          <pc:sldMk cId="3446575831" sldId="292"/>
        </pc:sldMkLst>
        <pc:spChg chg="mod">
          <ac:chgData name="YASH TALAVIYA" userId="a0d1b88011941842" providerId="LiveId" clId="{BE3B889A-249B-4CFE-9086-8169842FF156}" dt="2026-07-08T10:27:28.861" v="1243"/>
          <ac:spMkLst>
            <pc:docMk/>
            <pc:sldMk cId="3446575831" sldId="292"/>
            <ac:spMk id="204" creationId="{75884AFC-9F5C-9EBB-ED3F-AA9907C718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c4d3c9a19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3" name="Google Shape;103;g3c4d3c9a1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9" name="Google Shape;10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AE11D65A-D457-548E-6F42-B3211D5F33C2}"/>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3682193B-4099-4B29-7FE4-0A264647D2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9" name="Google Shape;109;p4:notes">
            <a:extLst>
              <a:ext uri="{FF2B5EF4-FFF2-40B4-BE49-F238E27FC236}">
                <a16:creationId xmlns:a16="http://schemas.microsoft.com/office/drawing/2014/main" id="{162A5130-147A-D84B-8CAD-E0285144A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7105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c5179bf9a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15" name="Google Shape;115;g3c5179bf9a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c5179bf9a9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21" name="Google Shape;121;g3c5179bf9a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c4b2ca8496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27" name="Google Shape;127;g3c4b2ca849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c4b2ca8496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3" name="Google Shape;133;g3c4b2ca849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8AC51AB-33A4-5AF1-4A67-39A590E4C7D4}"/>
            </a:ext>
          </a:extLst>
        </p:cNvPr>
        <p:cNvGrpSpPr/>
        <p:nvPr/>
      </p:nvGrpSpPr>
      <p:grpSpPr>
        <a:xfrm>
          <a:off x="0" y="0"/>
          <a:ext cx="0" cy="0"/>
          <a:chOff x="0" y="0"/>
          <a:chExt cx="0" cy="0"/>
        </a:xfrm>
      </p:grpSpPr>
      <p:sp>
        <p:nvSpPr>
          <p:cNvPr id="132" name="Google Shape;132;g3c4b2ca8496_0_9:notes">
            <a:extLst>
              <a:ext uri="{FF2B5EF4-FFF2-40B4-BE49-F238E27FC236}">
                <a16:creationId xmlns:a16="http://schemas.microsoft.com/office/drawing/2014/main" id="{A111AA77-DCD3-A27B-859D-3C7FEA6BFC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3" name="Google Shape;133;g3c4b2ca8496_0_9:notes">
            <a:extLst>
              <a:ext uri="{FF2B5EF4-FFF2-40B4-BE49-F238E27FC236}">
                <a16:creationId xmlns:a16="http://schemas.microsoft.com/office/drawing/2014/main" id="{E0B55E0A-9BB4-B3F4-9353-30647F4DA1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4585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A1EE8A0-188B-B454-5EDC-CB9A6C61179C}"/>
            </a:ext>
          </a:extLst>
        </p:cNvPr>
        <p:cNvGrpSpPr/>
        <p:nvPr/>
      </p:nvGrpSpPr>
      <p:grpSpPr>
        <a:xfrm>
          <a:off x="0" y="0"/>
          <a:ext cx="0" cy="0"/>
          <a:chOff x="0" y="0"/>
          <a:chExt cx="0" cy="0"/>
        </a:xfrm>
      </p:grpSpPr>
      <p:sp>
        <p:nvSpPr>
          <p:cNvPr id="132" name="Google Shape;132;g3c4b2ca8496_0_9:notes">
            <a:extLst>
              <a:ext uri="{FF2B5EF4-FFF2-40B4-BE49-F238E27FC236}">
                <a16:creationId xmlns:a16="http://schemas.microsoft.com/office/drawing/2014/main" id="{ED463ABA-12FA-F273-03A0-2A66BDF2B2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3" name="Google Shape;133;g3c4b2ca8496_0_9:notes">
            <a:extLst>
              <a:ext uri="{FF2B5EF4-FFF2-40B4-BE49-F238E27FC236}">
                <a16:creationId xmlns:a16="http://schemas.microsoft.com/office/drawing/2014/main" id="{1F9A00CF-1A44-8CD6-FAF8-28131E93E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9906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6A1716C-32E1-DD86-933B-0BE362EABED9}"/>
            </a:ext>
          </a:extLst>
        </p:cNvPr>
        <p:cNvGrpSpPr/>
        <p:nvPr/>
      </p:nvGrpSpPr>
      <p:grpSpPr>
        <a:xfrm>
          <a:off x="0" y="0"/>
          <a:ext cx="0" cy="0"/>
          <a:chOff x="0" y="0"/>
          <a:chExt cx="0" cy="0"/>
        </a:xfrm>
      </p:grpSpPr>
      <p:sp>
        <p:nvSpPr>
          <p:cNvPr id="132" name="Google Shape;132;g3c4b2ca8496_0_9:notes">
            <a:extLst>
              <a:ext uri="{FF2B5EF4-FFF2-40B4-BE49-F238E27FC236}">
                <a16:creationId xmlns:a16="http://schemas.microsoft.com/office/drawing/2014/main" id="{9CEF0772-0B68-36F7-FBF2-2580774D5F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3" name="Google Shape;133;g3c4b2ca8496_0_9:notes">
            <a:extLst>
              <a:ext uri="{FF2B5EF4-FFF2-40B4-BE49-F238E27FC236}">
                <a16:creationId xmlns:a16="http://schemas.microsoft.com/office/drawing/2014/main" id="{C9AE2B60-BC79-9881-4D32-3A36C9907F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0540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4b2ca8496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1" name="Google Shape;151;g3c4b2ca8496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D1B949D7-E7EF-CE7C-2C69-A5EB057BC708}"/>
            </a:ext>
          </a:extLst>
        </p:cNvPr>
        <p:cNvGrpSpPr/>
        <p:nvPr/>
      </p:nvGrpSpPr>
      <p:grpSpPr>
        <a:xfrm>
          <a:off x="0" y="0"/>
          <a:ext cx="0" cy="0"/>
          <a:chOff x="0" y="0"/>
          <a:chExt cx="0" cy="0"/>
        </a:xfrm>
      </p:grpSpPr>
      <p:sp>
        <p:nvSpPr>
          <p:cNvPr id="150" name="Google Shape;150;g3c4b2ca8496_0_24:notes">
            <a:extLst>
              <a:ext uri="{FF2B5EF4-FFF2-40B4-BE49-F238E27FC236}">
                <a16:creationId xmlns:a16="http://schemas.microsoft.com/office/drawing/2014/main" id="{B3E47B19-8294-00F8-2D8D-DD002D7AFD9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1" name="Google Shape;151;g3c4b2ca8496_0_24:notes">
            <a:extLst>
              <a:ext uri="{FF2B5EF4-FFF2-40B4-BE49-F238E27FC236}">
                <a16:creationId xmlns:a16="http://schemas.microsoft.com/office/drawing/2014/main" id="{35336D1C-99B5-24AC-CAF6-94C0FCD473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9283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c4d3c9a19d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3" name="Google Shape;163;g3c4d3c9a19d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c4b2ca8496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57" name="Google Shape;157;g3c4b2ca849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c4b2ca8496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9" name="Google Shape;169;g3c4b2ca849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C0F3580A-0B43-D304-B4E3-EDE9C6D0189F}"/>
            </a:ext>
          </a:extLst>
        </p:cNvPr>
        <p:cNvGrpSpPr/>
        <p:nvPr/>
      </p:nvGrpSpPr>
      <p:grpSpPr>
        <a:xfrm>
          <a:off x="0" y="0"/>
          <a:ext cx="0" cy="0"/>
          <a:chOff x="0" y="0"/>
          <a:chExt cx="0" cy="0"/>
        </a:xfrm>
      </p:grpSpPr>
      <p:sp>
        <p:nvSpPr>
          <p:cNvPr id="174" name="Google Shape;174;g3c4b2ca8496_0_54:notes">
            <a:extLst>
              <a:ext uri="{FF2B5EF4-FFF2-40B4-BE49-F238E27FC236}">
                <a16:creationId xmlns:a16="http://schemas.microsoft.com/office/drawing/2014/main" id="{F81DD9F1-3801-D4D7-1148-BB3806C506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c4b2ca8496_0_54:notes">
            <a:extLst>
              <a:ext uri="{FF2B5EF4-FFF2-40B4-BE49-F238E27FC236}">
                <a16:creationId xmlns:a16="http://schemas.microsoft.com/office/drawing/2014/main" id="{2A5DFEF5-E55D-9AAB-9C21-5FE60C8EE7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3530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81CFD4D4-4C14-CB19-3FEA-8DCF25E4D8EE}"/>
            </a:ext>
          </a:extLst>
        </p:cNvPr>
        <p:cNvGrpSpPr/>
        <p:nvPr/>
      </p:nvGrpSpPr>
      <p:grpSpPr>
        <a:xfrm>
          <a:off x="0" y="0"/>
          <a:ext cx="0" cy="0"/>
          <a:chOff x="0" y="0"/>
          <a:chExt cx="0" cy="0"/>
        </a:xfrm>
      </p:grpSpPr>
      <p:sp>
        <p:nvSpPr>
          <p:cNvPr id="174" name="Google Shape;174;g3c4b2ca8496_0_54:notes">
            <a:extLst>
              <a:ext uri="{FF2B5EF4-FFF2-40B4-BE49-F238E27FC236}">
                <a16:creationId xmlns:a16="http://schemas.microsoft.com/office/drawing/2014/main" id="{36304689-E150-53A0-5C0C-F6CCF2A732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c4b2ca8496_0_54:notes">
            <a:extLst>
              <a:ext uri="{FF2B5EF4-FFF2-40B4-BE49-F238E27FC236}">
                <a16:creationId xmlns:a16="http://schemas.microsoft.com/office/drawing/2014/main" id="{11E1E26C-54A0-AE0E-8EF2-E473E39117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1081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c4b2ca8496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c4b2ca8496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230F4911-8B53-9234-4FF8-B093C460B07C}"/>
            </a:ext>
          </a:extLst>
        </p:cNvPr>
        <p:cNvGrpSpPr/>
        <p:nvPr/>
      </p:nvGrpSpPr>
      <p:grpSpPr>
        <a:xfrm>
          <a:off x="0" y="0"/>
          <a:ext cx="0" cy="0"/>
          <a:chOff x="0" y="0"/>
          <a:chExt cx="0" cy="0"/>
        </a:xfrm>
      </p:grpSpPr>
      <p:sp>
        <p:nvSpPr>
          <p:cNvPr id="174" name="Google Shape;174;g3c4b2ca8496_0_54:notes">
            <a:extLst>
              <a:ext uri="{FF2B5EF4-FFF2-40B4-BE49-F238E27FC236}">
                <a16:creationId xmlns:a16="http://schemas.microsoft.com/office/drawing/2014/main" id="{9538150E-5BE7-BD8B-9E9E-6D6F1B9F34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c4b2ca8496_0_54:notes">
            <a:extLst>
              <a:ext uri="{FF2B5EF4-FFF2-40B4-BE49-F238E27FC236}">
                <a16:creationId xmlns:a16="http://schemas.microsoft.com/office/drawing/2014/main" id="{DDC9BC59-E272-3D77-68D0-76996F176D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5538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9DF9992A-5BD5-9FD7-EFCD-DA688B7241D1}"/>
            </a:ext>
          </a:extLst>
        </p:cNvPr>
        <p:cNvGrpSpPr/>
        <p:nvPr/>
      </p:nvGrpSpPr>
      <p:grpSpPr>
        <a:xfrm>
          <a:off x="0" y="0"/>
          <a:ext cx="0" cy="0"/>
          <a:chOff x="0" y="0"/>
          <a:chExt cx="0" cy="0"/>
        </a:xfrm>
      </p:grpSpPr>
      <p:sp>
        <p:nvSpPr>
          <p:cNvPr id="174" name="Google Shape;174;g3c4b2ca8496_0_54:notes">
            <a:extLst>
              <a:ext uri="{FF2B5EF4-FFF2-40B4-BE49-F238E27FC236}">
                <a16:creationId xmlns:a16="http://schemas.microsoft.com/office/drawing/2014/main" id="{0223863A-D812-474D-9C3C-74EC4BE704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5" name="Google Shape;175;g3c4b2ca8496_0_54:notes">
            <a:extLst>
              <a:ext uri="{FF2B5EF4-FFF2-40B4-BE49-F238E27FC236}">
                <a16:creationId xmlns:a16="http://schemas.microsoft.com/office/drawing/2014/main" id="{643DE3CC-6BAC-ECF7-345A-96E989CD6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79722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c4b2ca8496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89" name="Google Shape;189;g3c4b2ca8496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c4b2ca8496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95" name="Google Shape;195;g3c4b2ca849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1" name="Google Shape;2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9FF3ABB0-7F49-1620-6E8B-6F3593813764}"/>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6D2450BA-74F6-E701-4B34-C421C99740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1" name="Google Shape;201;p5:notes">
            <a:extLst>
              <a:ext uri="{FF2B5EF4-FFF2-40B4-BE49-F238E27FC236}">
                <a16:creationId xmlns:a16="http://schemas.microsoft.com/office/drawing/2014/main" id="{1DBEA15A-ACA4-3F69-5EE9-1EAA039503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53664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F8C3D8F9-4D8A-B1BA-D487-1AA92386A58D}"/>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D0398566-85AB-B723-3263-6199E33E771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1" name="Google Shape;201;p5:notes">
            <a:extLst>
              <a:ext uri="{FF2B5EF4-FFF2-40B4-BE49-F238E27FC236}">
                <a16:creationId xmlns:a16="http://schemas.microsoft.com/office/drawing/2014/main" id="{051C3E4E-9724-A556-FD66-78BFC1A3D0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24446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45817C61-3920-9088-33E3-6B03B59125F8}"/>
            </a:ext>
          </a:extLst>
        </p:cNvPr>
        <p:cNvGrpSpPr/>
        <p:nvPr/>
      </p:nvGrpSpPr>
      <p:grpSpPr>
        <a:xfrm>
          <a:off x="0" y="0"/>
          <a:ext cx="0" cy="0"/>
          <a:chOff x="0" y="0"/>
          <a:chExt cx="0" cy="0"/>
        </a:xfrm>
      </p:grpSpPr>
      <p:sp>
        <p:nvSpPr>
          <p:cNvPr id="200" name="Google Shape;200;p5:notes">
            <a:extLst>
              <a:ext uri="{FF2B5EF4-FFF2-40B4-BE49-F238E27FC236}">
                <a16:creationId xmlns:a16="http://schemas.microsoft.com/office/drawing/2014/main" id="{6359B6EB-0042-EDE0-7755-4D67FBB64F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1" name="Google Shape;201;p5:notes">
            <a:extLst>
              <a:ext uri="{FF2B5EF4-FFF2-40B4-BE49-F238E27FC236}">
                <a16:creationId xmlns:a16="http://schemas.microsoft.com/office/drawing/2014/main" id="{4B664612-111F-8C30-7CF6-56F3252FF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54432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07" name="Google Shape;2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212" name="Google Shape;21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7"/>
          <p:cNvSpPr>
            <a:spLocks noGrp="1"/>
          </p:cNvSpPr>
          <p:nvPr>
            <p:ph type="pic" idx="2"/>
          </p:nvPr>
        </p:nvSpPr>
        <p:spPr>
          <a:xfrm>
            <a:off x="5183188" y="987425"/>
            <a:ext cx="6172200" cy="4873625"/>
          </a:xfrm>
          <a:prstGeom prst="rect">
            <a:avLst/>
          </a:prstGeom>
          <a:noFill/>
          <a:ln>
            <a:noFill/>
          </a:ln>
        </p:spPr>
      </p:sp>
      <p:sp>
        <p:nvSpPr>
          <p:cNvPr id="64" name="Google Shape;64;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102949" y="3526681"/>
            <a:ext cx="66780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Proxima Nova"/>
                <a:ea typeface="Proxima Nova"/>
                <a:cs typeface="Proxima Nova"/>
                <a:sym typeface="Proxima Nova"/>
              </a:rPr>
              <a:t>Team Member 1: Yash </a:t>
            </a:r>
            <a:r>
              <a:rPr lang="en-US" sz="1800" b="0" i="0" u="none" strike="noStrike" cap="none" dirty="0" err="1">
                <a:solidFill>
                  <a:schemeClr val="dk1"/>
                </a:solidFill>
                <a:latin typeface="Proxima Nova"/>
                <a:ea typeface="Proxima Nova"/>
                <a:cs typeface="Proxima Nova"/>
                <a:sym typeface="Proxima Nova"/>
              </a:rPr>
              <a:t>Talaviya</a:t>
            </a:r>
            <a:r>
              <a:rPr lang="en-US" sz="1800" b="0" i="0" u="none" strike="noStrike" cap="none" dirty="0">
                <a:solidFill>
                  <a:schemeClr val="dk1"/>
                </a:solidFill>
                <a:latin typeface="Proxima Nova"/>
                <a:ea typeface="Proxima Nova"/>
                <a:cs typeface="Proxima Nova"/>
                <a:sym typeface="Proxima Nova"/>
              </a:rPr>
              <a:t> (92410103105) (7EC3)</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Proxima Nova"/>
                <a:ea typeface="Proxima Nova"/>
                <a:cs typeface="Proxima Nova"/>
                <a:sym typeface="Proxima Nova"/>
              </a:rPr>
              <a:t>Team Member 2: Tirth Bhut (92410103093) (7EC3)</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Proxima Nova"/>
                <a:ea typeface="Proxima Nova"/>
                <a:cs typeface="Proxima Nova"/>
                <a:sym typeface="Proxima Nova"/>
              </a:rPr>
              <a:t>Team Member 3: Pratham Gajra (92410103106) (7EC3)</a:t>
            </a:r>
            <a:endParaRPr sz="1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Proxima Nova"/>
              <a:ea typeface="Proxima Nova"/>
              <a:cs typeface="Proxima Nova"/>
              <a:sym typeface="Proxima Nova"/>
            </a:endParaRPr>
          </a:p>
        </p:txBody>
      </p:sp>
      <p:sp>
        <p:nvSpPr>
          <p:cNvPr id="89" name="Google Shape;89;p2"/>
          <p:cNvSpPr txBox="1"/>
          <p:nvPr/>
        </p:nvSpPr>
        <p:spPr>
          <a:xfrm>
            <a:off x="376050" y="2738825"/>
            <a:ext cx="11570700" cy="7953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a:buNone/>
            </a:pPr>
            <a:r>
              <a:rPr lang="en-US" sz="2800" b="0" i="0" u="none" strike="noStrike" cap="none" dirty="0">
                <a:solidFill>
                  <a:srgbClr val="04A2B9"/>
                </a:solidFill>
                <a:latin typeface="Proxima Nova"/>
                <a:ea typeface="Proxima Nova"/>
                <a:cs typeface="Proxima Nova"/>
                <a:sym typeface="Proxima Nova"/>
              </a:rPr>
              <a:t>QR Code Phishing Detection System (</a:t>
            </a:r>
            <a:r>
              <a:rPr lang="en-US" sz="2800" b="0" i="0" u="none" strike="noStrike" cap="none" dirty="0" err="1">
                <a:solidFill>
                  <a:srgbClr val="04A2B9"/>
                </a:solidFill>
                <a:latin typeface="Proxima Nova"/>
                <a:ea typeface="Proxima Nova"/>
                <a:cs typeface="Proxima Nova"/>
                <a:sym typeface="Proxima Nova"/>
              </a:rPr>
              <a:t>Quishing</a:t>
            </a:r>
            <a:r>
              <a:rPr lang="en-US" sz="2800" b="0" i="0" u="none" strike="noStrike" cap="none" dirty="0">
                <a:solidFill>
                  <a:srgbClr val="04A2B9"/>
                </a:solidFill>
                <a:latin typeface="Proxima Nova"/>
                <a:ea typeface="Proxima Nova"/>
                <a:cs typeface="Proxima Nova"/>
                <a:sym typeface="Proxima Nova"/>
              </a:rPr>
              <a:t> Detection)</a:t>
            </a:r>
            <a:endParaRPr sz="1400" b="0" i="0" u="none" strike="noStrike" cap="none" dirty="0">
              <a:solidFill>
                <a:srgbClr val="000000"/>
              </a:solidFill>
              <a:latin typeface="Arial"/>
              <a:ea typeface="Arial"/>
              <a:cs typeface="Arial"/>
              <a:sym typeface="Arial"/>
            </a:endParaRPr>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dirty="0">
                <a:solidFill>
                  <a:srgbClr val="04A2B9"/>
                </a:solidFill>
                <a:latin typeface="Proxima Nova"/>
                <a:ea typeface="Proxima Nova"/>
                <a:cs typeface="Proxima Nova"/>
                <a:sym typeface="Proxima Nova"/>
              </a:rPr>
              <a:t>Team ID: </a:t>
            </a:r>
            <a:r>
              <a:rPr lang="en-US" sz="2200" dirty="0">
                <a:solidFill>
                  <a:srgbClr val="04A2B9"/>
                </a:solidFill>
                <a:latin typeface="Proxima Nova"/>
                <a:ea typeface="Proxima Nova"/>
                <a:cs typeface="Proxima Nova"/>
                <a:sym typeface="Proxima Nova"/>
              </a:rPr>
              <a:t>7P_121</a:t>
            </a:r>
            <a:endParaRPr sz="2200" b="0" i="0" u="none" strike="noStrike" cap="none" dirty="0">
              <a:solidFill>
                <a:srgbClr val="04A2B9"/>
              </a:solidFill>
              <a:latin typeface="Proxima Nova"/>
              <a:ea typeface="Proxima Nova"/>
              <a:cs typeface="Proxima Nova"/>
              <a:sym typeface="Proxima Nova"/>
            </a:endParaRPr>
          </a:p>
        </p:txBody>
      </p:sp>
      <p:sp>
        <p:nvSpPr>
          <p:cNvPr id="90" name="Google Shape;90;p2"/>
          <p:cNvSpPr txBox="1"/>
          <p:nvPr/>
        </p:nvSpPr>
        <p:spPr>
          <a:xfrm>
            <a:off x="5459831" y="4489367"/>
            <a:ext cx="12723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595959"/>
                </a:solidFill>
                <a:latin typeface="Proxima Nova"/>
                <a:ea typeface="Proxima Nova"/>
                <a:cs typeface="Proxima Nova"/>
                <a:sym typeface="Proxima Nova"/>
              </a:rPr>
              <a:t>Guided By</a:t>
            </a:r>
            <a:endParaRPr sz="1800" b="0" i="0" u="none" strike="noStrike" cap="none">
              <a:solidFill>
                <a:srgbClr val="595959"/>
              </a:solidFill>
              <a:latin typeface="Proxima Nova"/>
              <a:ea typeface="Proxima Nova"/>
              <a:cs typeface="Proxima Nova"/>
              <a:sym typeface="Proxima Nova"/>
            </a:endParaRPr>
          </a:p>
        </p:txBody>
      </p:sp>
      <p:sp>
        <p:nvSpPr>
          <p:cNvPr id="91" name="Google Shape;91;p2"/>
          <p:cNvSpPr txBox="1"/>
          <p:nvPr/>
        </p:nvSpPr>
        <p:spPr>
          <a:xfrm>
            <a:off x="3193926" y="4897337"/>
            <a:ext cx="5742600" cy="738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Internal Guide</a:t>
            </a:r>
            <a:endParaRPr sz="1800" b="0" i="0" u="none" strike="noStrike" cap="none">
              <a:solidFill>
                <a:schemeClr val="dk1"/>
              </a:solidFill>
              <a:latin typeface="Proxima Nova"/>
              <a:ea typeface="Proxima Nova"/>
              <a:cs typeface="Proxima Nova"/>
              <a:sym typeface="Proxima Nova"/>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roxima Nova"/>
                <a:ea typeface="Proxima Nova"/>
                <a:cs typeface="Proxima Nova"/>
                <a:sym typeface="Proxima Nova"/>
              </a:rPr>
              <a:t>Prof. Yogeshwar Prajapati (Assistant Professor)</a:t>
            </a:r>
            <a:endParaRPr sz="1400" b="0" i="0" u="none" strike="noStrike" cap="none">
              <a:solidFill>
                <a:srgbClr val="000000"/>
              </a:solidFill>
              <a:latin typeface="Arial"/>
              <a:ea typeface="Arial"/>
              <a:cs typeface="Arial"/>
              <a:sym typeface="Arial"/>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
          <p:cNvSpPr txBox="1"/>
          <p:nvPr/>
        </p:nvSpPr>
        <p:spPr>
          <a:xfrm>
            <a:off x="2550795" y="1056005"/>
            <a:ext cx="7095600" cy="20268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dirty="0">
                <a:solidFill>
                  <a:srgbClr val="04A2B9"/>
                </a:solidFill>
                <a:latin typeface="Proxima Nova"/>
                <a:ea typeface="Proxima Nova"/>
                <a:cs typeface="Proxima Nova"/>
                <a:sym typeface="Proxima Nova"/>
              </a:rPr>
              <a:t>Major Project (01CE0716)</a:t>
            </a:r>
            <a:endParaRPr sz="3200" b="1" i="0" u="none" strike="noStrike" cap="none" dirty="0">
              <a:solidFill>
                <a:srgbClr val="04A2B9"/>
              </a:solidFill>
              <a:latin typeface="Proxima Nova"/>
              <a:ea typeface="Proxima Nova"/>
              <a:cs typeface="Proxima Nova"/>
              <a:sym typeface="Proxima Nova"/>
            </a:endParaRPr>
          </a:p>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dirty="0">
                <a:solidFill>
                  <a:srgbClr val="04A2B9"/>
                </a:solidFill>
                <a:latin typeface="Proxima Nova"/>
                <a:ea typeface="Proxima Nova"/>
                <a:cs typeface="Proxima Nova"/>
                <a:sym typeface="Proxima Nova"/>
              </a:rPr>
              <a:t>Semester 7</a:t>
            </a:r>
            <a:endParaRPr sz="3200" b="1" i="0" u="none" strike="noStrike" cap="none" dirty="0">
              <a:solidFill>
                <a:srgbClr val="000000"/>
              </a:solidFill>
              <a:latin typeface="Arial"/>
              <a:ea typeface="Arial"/>
              <a:cs typeface="Arial"/>
              <a:sym typeface="Arial"/>
            </a:endParaRPr>
          </a:p>
          <a:p>
            <a:pPr marL="12700" marR="0" lvl="0" indent="0" algn="ctr" rtl="0">
              <a:lnSpc>
                <a:spcPct val="100000"/>
              </a:lnSpc>
              <a:spcBef>
                <a:spcPts val="100"/>
              </a:spcBef>
              <a:spcAft>
                <a:spcPts val="0"/>
              </a:spcAft>
              <a:buClr>
                <a:srgbClr val="04A2B9"/>
              </a:buClr>
              <a:buSzPts val="2200"/>
              <a:buFont typeface="Proxima Nova"/>
              <a:buNone/>
            </a:pPr>
            <a:r>
              <a:rPr lang="en-US" sz="2200" b="0" i="0" u="none" strike="noStrike" cap="none" dirty="0">
                <a:solidFill>
                  <a:srgbClr val="04A2B9"/>
                </a:solidFill>
                <a:latin typeface="Proxima Nova"/>
                <a:ea typeface="Proxima Nova"/>
                <a:cs typeface="Proxima Nova"/>
                <a:sym typeface="Proxima Nova"/>
              </a:rPr>
              <a:t>Review 1 </a:t>
            </a:r>
            <a:br>
              <a:rPr lang="en-US" sz="2200" b="0" i="0" u="none" strike="noStrike" cap="none" dirty="0">
                <a:solidFill>
                  <a:srgbClr val="04A2B9"/>
                </a:solidFill>
                <a:latin typeface="Proxima Nova"/>
                <a:ea typeface="Proxima Nova"/>
                <a:cs typeface="Proxima Nova"/>
                <a:sym typeface="Proxima Nova"/>
              </a:rPr>
            </a:br>
            <a:r>
              <a:rPr lang="en-US" sz="2200" b="0" i="0" u="none" strike="noStrike" cap="none" dirty="0">
                <a:solidFill>
                  <a:srgbClr val="04A2B9"/>
                </a:solidFill>
                <a:latin typeface="Proxima Nova"/>
                <a:ea typeface="Proxima Nova"/>
                <a:cs typeface="Proxima Nova"/>
                <a:sym typeface="Proxima Nova"/>
              </a:rPr>
              <a:t>(</a:t>
            </a:r>
            <a:r>
              <a:rPr lang="en-US" sz="2200" dirty="0">
                <a:solidFill>
                  <a:srgbClr val="04A2B9"/>
                </a:solidFill>
                <a:latin typeface="Proxima Nova"/>
                <a:ea typeface="Proxima Nova"/>
                <a:cs typeface="Proxima Nova"/>
                <a:sym typeface="Proxima Nova"/>
              </a:rPr>
              <a:t>11</a:t>
            </a:r>
            <a:r>
              <a:rPr lang="en-US" sz="2200" b="0" i="0" u="none" strike="noStrike" cap="none" dirty="0">
                <a:solidFill>
                  <a:srgbClr val="04A2B9"/>
                </a:solidFill>
                <a:latin typeface="Proxima Nova"/>
                <a:ea typeface="Proxima Nova"/>
                <a:cs typeface="Proxima Nova"/>
                <a:sym typeface="Proxima Nova"/>
              </a:rPr>
              <a:t>/07/2026)</a:t>
            </a:r>
            <a:br>
              <a:rPr lang="en-US" sz="2200" b="0" i="0" u="none" strike="noStrike" cap="none" dirty="0">
                <a:solidFill>
                  <a:srgbClr val="04A2B9"/>
                </a:solidFill>
                <a:latin typeface="Proxima Nova"/>
                <a:ea typeface="Proxima Nova"/>
                <a:cs typeface="Proxima Nova"/>
                <a:sym typeface="Proxima Nova"/>
              </a:rPr>
            </a:br>
            <a:endParaRPr sz="2200" b="0" i="0" u="none" strike="noStrike" cap="none" dirty="0">
              <a:solidFill>
                <a:schemeClr val="dk1"/>
              </a:solidFill>
              <a:latin typeface="Proxima Nova"/>
              <a:ea typeface="Proxima Nova"/>
              <a:cs typeface="Proxima Nova"/>
              <a:sym typeface="Proxima Nova"/>
            </a:endParaRPr>
          </a:p>
        </p:txBody>
      </p:sp>
      <p:sp>
        <p:nvSpPr>
          <p:cNvPr id="94" name="Google Shape;94;p2"/>
          <p:cNvSpPr txBox="1"/>
          <p:nvPr/>
        </p:nvSpPr>
        <p:spPr>
          <a:xfrm>
            <a:off x="2012704" y="5636218"/>
            <a:ext cx="8297400" cy="936300"/>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a:solidFill>
                  <a:srgbClr val="04A2B9"/>
                </a:solidFill>
                <a:latin typeface="Proxima Nova"/>
                <a:ea typeface="Proxima Nova"/>
                <a:cs typeface="Proxima Nova"/>
                <a:sym typeface="Proxima Nova"/>
              </a:rPr>
              <a:t>Department of Computer Engineering,</a:t>
            </a:r>
            <a:br>
              <a:rPr lang="en-US" sz="2400" b="0" i="0" u="none" strike="noStrike" cap="none">
                <a:solidFill>
                  <a:srgbClr val="04A2B9"/>
                </a:solidFill>
                <a:latin typeface="Proxima Nova"/>
                <a:ea typeface="Proxima Nova"/>
                <a:cs typeface="Proxima Nova"/>
                <a:sym typeface="Proxima Nova"/>
              </a:rPr>
            </a:br>
            <a:r>
              <a:rPr lang="en-US" sz="2400" b="0" i="0" u="none" strike="noStrike" cap="none">
                <a:solidFill>
                  <a:srgbClr val="04A2B9"/>
                </a:solidFill>
                <a:latin typeface="Proxima Nova"/>
                <a:ea typeface="Proxima Nova"/>
                <a:cs typeface="Proxima Nova"/>
                <a:sym typeface="Proxima Nova"/>
              </a:rPr>
              <a:t>Faculty of Engineering &amp; Technology</a:t>
            </a:r>
            <a:r>
              <a:rPr lang="en-US" sz="3600" b="0" i="0" u="none" strike="noStrike" cap="none">
                <a:solidFill>
                  <a:srgbClr val="04A2B9"/>
                </a:solidFill>
                <a:latin typeface="Proxima Nova"/>
                <a:ea typeface="Proxima Nova"/>
                <a:cs typeface="Proxima Nova"/>
                <a:sym typeface="Proxima Nova"/>
              </a:rPr>
              <a:t> </a:t>
            </a:r>
            <a:endParaRPr sz="3600" b="0" i="0" u="none" strike="noStrike" cap="none">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Outline</a:t>
            </a:r>
            <a:endParaRPr sz="2400" b="1">
              <a:latin typeface="Proxima Nova"/>
              <a:ea typeface="Proxima Nova"/>
              <a:cs typeface="Proxima Nova"/>
              <a:sym typeface="Proxima Nova"/>
            </a:endParaRPr>
          </a:p>
        </p:txBody>
      </p:sp>
      <p:sp>
        <p:nvSpPr>
          <p:cNvPr id="100" name="Google Shape;100;p3"/>
          <p:cNvSpPr txBox="1"/>
          <p:nvPr/>
        </p:nvSpPr>
        <p:spPr>
          <a:xfrm>
            <a:off x="646113" y="966117"/>
            <a:ext cx="8591100" cy="39666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Abstract</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Introduction</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How Attack Works</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Problem Statement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Literature Review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Dataset Details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Methodology &amp; Flowchart</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Tools &amp; Technologies Used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Model Result &amp; Confusion Matrix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Conclusion </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Future Scope</a:t>
            </a:r>
            <a:endParaRPr sz="1800" b="0" i="0" u="none" strike="noStrike" cap="none">
              <a:solidFill>
                <a:srgbClr val="000000"/>
              </a:solidFill>
              <a:latin typeface="Proxima Nova"/>
              <a:ea typeface="Proxima Nova"/>
              <a:cs typeface="Proxima Nova"/>
              <a:sym typeface="Proxima Nova"/>
            </a:endParaRPr>
          </a:p>
          <a:p>
            <a:pPr marL="285750" marR="0" lvl="0" indent="-285750" algn="l" rtl="0">
              <a:lnSpc>
                <a:spcPct val="115000"/>
              </a:lnSpc>
              <a:spcBef>
                <a:spcPts val="0"/>
              </a:spcBef>
              <a:spcAft>
                <a:spcPts val="0"/>
              </a:spcAft>
              <a:buClr>
                <a:srgbClr val="000000"/>
              </a:buClr>
              <a:buSzPts val="1800"/>
              <a:buFont typeface="Proxima Nova"/>
              <a:buChar char="•"/>
            </a:pPr>
            <a:r>
              <a:rPr lang="en-US" sz="1800" b="0" i="0" u="none" strike="noStrike" cap="none">
                <a:solidFill>
                  <a:srgbClr val="000000"/>
                </a:solidFill>
                <a:latin typeface="Proxima Nova"/>
                <a:ea typeface="Proxima Nova"/>
                <a:cs typeface="Proxima Nova"/>
                <a:sym typeface="Proxima Nova"/>
              </a:rPr>
              <a:t>References</a:t>
            </a:r>
            <a:endParaRPr sz="1800" b="0" i="0" u="none" strike="noStrike" cap="none">
              <a:solidFill>
                <a:srgbClr val="000000"/>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g3c4d3c9a19d_0_0"/>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Abstract</a:t>
            </a:r>
            <a:endParaRPr sz="2400" b="1">
              <a:latin typeface="Proxima Nova"/>
              <a:ea typeface="Proxima Nova"/>
              <a:cs typeface="Proxima Nova"/>
              <a:sym typeface="Proxima Nova"/>
            </a:endParaRPr>
          </a:p>
        </p:txBody>
      </p:sp>
      <p:sp>
        <p:nvSpPr>
          <p:cNvPr id="106" name="Google Shape;106;g3c4d3c9a19d_0_0"/>
          <p:cNvSpPr txBox="1"/>
          <p:nvPr/>
        </p:nvSpPr>
        <p:spPr>
          <a:xfrm>
            <a:off x="646157" y="1124750"/>
            <a:ext cx="10890900" cy="3370123"/>
          </a:xfrm>
          <a:prstGeom prst="rect">
            <a:avLst/>
          </a:prstGeom>
          <a:noFill/>
          <a:ln>
            <a:noFill/>
          </a:ln>
        </p:spPr>
        <p:txBody>
          <a:bodyPr spcFirstLastPara="1" wrap="square" lIns="91425" tIns="91425" rIns="91425" bIns="91425" anchor="t" anchorCtr="0">
            <a:spAutoFit/>
          </a:bodyPr>
          <a:lstStyle/>
          <a:p>
            <a:pPr marR="0" lvl="0" algn="just" rtl="0">
              <a:lnSpc>
                <a:spcPct val="115000"/>
              </a:lnSpc>
              <a:spcBef>
                <a:spcPts val="0"/>
              </a:spcBef>
              <a:spcAft>
                <a:spcPts val="0"/>
              </a:spcAft>
              <a:buClr>
                <a:srgbClr val="000000"/>
              </a:buClr>
              <a:buSzPts val="1800"/>
            </a:pPr>
            <a:r>
              <a:rPr lang="en-US" sz="2000" b="0" i="0" u="none" strike="noStrike" cap="none" dirty="0">
                <a:solidFill>
                  <a:srgbClr val="666666"/>
                </a:solidFill>
                <a:latin typeface="Proxima Nova"/>
                <a:ea typeface="Proxima Nova"/>
                <a:cs typeface="Proxima Nova"/>
                <a:sym typeface="Proxima Nova"/>
              </a:rPr>
              <a:t>The “QR Code Phishing Detection System (</a:t>
            </a:r>
            <a:r>
              <a:rPr lang="en-US" sz="2000" b="0" i="0" u="none" strike="noStrike" cap="none" dirty="0" err="1">
                <a:solidFill>
                  <a:srgbClr val="666666"/>
                </a:solidFill>
                <a:latin typeface="Proxima Nova"/>
                <a:ea typeface="Proxima Nova"/>
                <a:cs typeface="Proxima Nova"/>
                <a:sym typeface="Proxima Nova"/>
              </a:rPr>
              <a:t>Quishing</a:t>
            </a:r>
            <a:r>
              <a:rPr lang="en-US" sz="2000" b="0" i="0" u="none" strike="noStrike" cap="none" dirty="0">
                <a:solidFill>
                  <a:srgbClr val="666666"/>
                </a:solidFill>
                <a:latin typeface="Proxima Nova"/>
                <a:ea typeface="Proxima Nova"/>
                <a:cs typeface="Proxima Nova"/>
                <a:sym typeface="Proxima Nova"/>
              </a:rPr>
              <a:t> Detection)” is designed to identify and prevent malicious QR codes that redirect users to fraudulent or phishing websites. With the increasing use of QR codes in digital payments, advertisements, and authentication systems, cybercriminals exploit them to steal sensitive information such as banking credentials and personal data. The proposed system analyzes QR code URLs, domain reputation, redirection behavior, and suspicious patterns using cybersecurity and intelligent detection techniques. The framework can warn users before accessing harmful links and help reduce phishing attacks. The project aims to improve user safety, strengthen digital trust, and provide secure QR code scanning mechanisms.</a:t>
            </a:r>
            <a:endParaRPr sz="2000" b="0" i="0" u="none" strike="noStrike" cap="none" dirty="0">
              <a:solidFill>
                <a:srgbClr val="666666"/>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534258" y="309562"/>
            <a:ext cx="6501541"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Introduction to Domain – Cyber Security</a:t>
            </a:r>
            <a:endParaRPr sz="2400" b="1" dirty="0">
              <a:latin typeface="Proxima Nova"/>
              <a:ea typeface="Proxima Nova"/>
              <a:cs typeface="Proxima Nova"/>
              <a:sym typeface="Proxima Nova"/>
            </a:endParaRPr>
          </a:p>
        </p:txBody>
      </p:sp>
      <p:sp>
        <p:nvSpPr>
          <p:cNvPr id="112" name="Google Shape;112;p4"/>
          <p:cNvSpPr txBox="1"/>
          <p:nvPr/>
        </p:nvSpPr>
        <p:spPr>
          <a:xfrm>
            <a:off x="646157" y="1124750"/>
            <a:ext cx="10890900" cy="301618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a:solidFill>
                  <a:srgbClr val="FF0000"/>
                </a:solidFill>
                <a:latin typeface="Proxima Nova"/>
                <a:ea typeface="Proxima Nova"/>
                <a:cs typeface="Proxima Nova"/>
                <a:sym typeface="Proxima Nova"/>
              </a:rPr>
              <a:t>Cyber Security</a:t>
            </a:r>
            <a:r>
              <a:rPr lang="en-US" sz="2000" b="0" i="0" u="none" strike="noStrike" cap="none" dirty="0">
                <a:solidFill>
                  <a:srgbClr val="666666"/>
                </a:solidFill>
                <a:latin typeface="Proxima Nova"/>
                <a:ea typeface="Proxima Nova"/>
                <a:cs typeface="Proxima Nova"/>
                <a:sym typeface="Proxima Nova"/>
              </a:rPr>
              <a:t> is the practice of protecting computers, networks, applications, and data from cyber threats and unauthorized access.</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It ensures the </a:t>
            </a:r>
            <a:r>
              <a:rPr lang="en-US" sz="2000" b="1" i="0" u="none" strike="noStrike" cap="none" dirty="0">
                <a:solidFill>
                  <a:srgbClr val="FF0000"/>
                </a:solidFill>
                <a:latin typeface="Proxima Nova"/>
                <a:ea typeface="Proxima Nova"/>
                <a:cs typeface="Proxima Nova"/>
                <a:sym typeface="Proxima Nova"/>
              </a:rPr>
              <a:t>Confidentiality, Integrity, and Availability (CIA)</a:t>
            </a:r>
            <a:r>
              <a:rPr lang="en-US" sz="2000" b="0" i="0" u="none" strike="noStrike" cap="none" dirty="0">
                <a:solidFill>
                  <a:srgbClr val="FF0000"/>
                </a:solidFill>
                <a:latin typeface="Proxima Nova"/>
                <a:ea typeface="Proxima Nova"/>
                <a:cs typeface="Proxima Nova"/>
                <a:sym typeface="Proxima Nova"/>
              </a:rPr>
              <a:t> </a:t>
            </a:r>
            <a:r>
              <a:rPr lang="en-US" sz="2000" b="0" i="0" u="none" strike="noStrike" cap="none" dirty="0">
                <a:solidFill>
                  <a:srgbClr val="666666"/>
                </a:solidFill>
                <a:latin typeface="Proxima Nova"/>
                <a:ea typeface="Proxima Nova"/>
                <a:cs typeface="Proxima Nova"/>
                <a:sym typeface="Proxima Nova"/>
              </a:rPr>
              <a:t>of digital information. With the growth of online services, attacks such as </a:t>
            </a:r>
            <a:r>
              <a:rPr lang="en-US" sz="2000" b="1" dirty="0">
                <a:solidFill>
                  <a:srgbClr val="FF0000"/>
                </a:solidFill>
                <a:latin typeface="Proxima Nova"/>
                <a:sym typeface="Proxima Nova"/>
              </a:rPr>
              <a:t>Phishing, Malware, Ransomware, and Identity Thef</a:t>
            </a:r>
            <a:r>
              <a:rPr lang="en-US" sz="2000" b="1" i="0" u="none" strike="noStrike" cap="none" dirty="0">
                <a:solidFill>
                  <a:srgbClr val="FF0000"/>
                </a:solidFill>
                <a:latin typeface="Proxima Nova"/>
                <a:ea typeface="Proxima Nova"/>
                <a:cs typeface="Proxima Nova"/>
                <a:sym typeface="Proxima Nova"/>
              </a:rPr>
              <a:t>t</a:t>
            </a:r>
            <a:r>
              <a:rPr lang="en-US" sz="2000" b="1" i="0" u="none" strike="noStrike" cap="none" dirty="0">
                <a:solidFill>
                  <a:srgbClr val="666666"/>
                </a:solidFill>
                <a:latin typeface="Proxima Nova"/>
                <a:ea typeface="Proxima Nova"/>
                <a:cs typeface="Proxima Nova"/>
                <a:sym typeface="Proxima Nova"/>
              </a:rPr>
              <a:t> </a:t>
            </a:r>
            <a:r>
              <a:rPr lang="en-US" sz="2000" b="0" i="0" u="none" strike="noStrike" cap="none" dirty="0">
                <a:solidFill>
                  <a:srgbClr val="666666"/>
                </a:solidFill>
                <a:latin typeface="Proxima Nova"/>
                <a:ea typeface="Proxima Nova"/>
                <a:cs typeface="Proxima Nova"/>
                <a:sym typeface="Proxima Nova"/>
              </a:rPr>
              <a:t>have become more common.</a:t>
            </a:r>
          </a:p>
          <a:p>
            <a:pPr marL="285750" marR="0" lvl="0" indent="-285750" algn="just" rtl="0">
              <a:lnSpc>
                <a:spcPct val="115000"/>
              </a:lnSpc>
              <a:spcBef>
                <a:spcPts val="0"/>
              </a:spcBef>
              <a:spcAft>
                <a:spcPts val="0"/>
              </a:spcAft>
              <a:buClr>
                <a:srgbClr val="000000"/>
              </a:buClr>
              <a:buSzPts val="1800"/>
              <a:buFont typeface="Arial"/>
              <a:buChar char="•"/>
            </a:pPr>
            <a:endParaRPr lang="en-US" sz="2000"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Cybersecurity techniques help </a:t>
            </a:r>
            <a:r>
              <a:rPr lang="en-US" sz="2000" b="1" i="0" u="none" strike="noStrike" cap="none" dirty="0">
                <a:solidFill>
                  <a:srgbClr val="FF0000"/>
                </a:solidFill>
                <a:latin typeface="Proxima Nova"/>
                <a:ea typeface="Proxima Nova"/>
                <a:cs typeface="Proxima Nova"/>
                <a:sym typeface="Proxima Nova"/>
              </a:rPr>
              <a:t>detect, prevent, and respond </a:t>
            </a:r>
            <a:r>
              <a:rPr lang="en-US" sz="2000" b="0" i="0" u="none" strike="noStrike" cap="none" dirty="0">
                <a:solidFill>
                  <a:srgbClr val="666666"/>
                </a:solidFill>
                <a:latin typeface="Proxima Nova"/>
                <a:ea typeface="Proxima Nova"/>
                <a:cs typeface="Proxima Nova"/>
                <a:sym typeface="Proxima Nova"/>
              </a:rPr>
              <a:t>to these threats.</a:t>
            </a:r>
            <a:endParaRPr sz="2000" b="0" i="0" u="none" strike="noStrike" cap="none" dirty="0">
              <a:solidFill>
                <a:srgbClr val="666666"/>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a:extLst>
            <a:ext uri="{FF2B5EF4-FFF2-40B4-BE49-F238E27FC236}">
              <a16:creationId xmlns:a16="http://schemas.microsoft.com/office/drawing/2014/main" id="{AB4FF04B-05BE-A152-C7BA-4436B9089C07}"/>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B8E4A213-7554-D270-AEBC-5133873FCFF0}"/>
              </a:ext>
            </a:extLst>
          </p:cNvPr>
          <p:cNvSpPr txBox="1">
            <a:spLocks noGrp="1"/>
          </p:cNvSpPr>
          <p:nvPr>
            <p:ph type="title"/>
          </p:nvPr>
        </p:nvSpPr>
        <p:spPr>
          <a:xfrm>
            <a:off x="534258" y="309562"/>
            <a:ext cx="7263542"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Introduction to Sub-Domain – </a:t>
            </a:r>
            <a:r>
              <a:rPr lang="en-US" sz="2400" b="1" dirty="0" err="1">
                <a:solidFill>
                  <a:srgbClr val="04A2B9"/>
                </a:solidFill>
                <a:latin typeface="Proxima Nova"/>
                <a:ea typeface="Proxima Nova"/>
                <a:cs typeface="Proxima Nova"/>
                <a:sym typeface="Proxima Nova"/>
              </a:rPr>
              <a:t>Quishing</a:t>
            </a:r>
            <a:r>
              <a:rPr lang="en-US" sz="2400" b="1" dirty="0">
                <a:solidFill>
                  <a:srgbClr val="04A2B9"/>
                </a:solidFill>
                <a:latin typeface="Proxima Nova"/>
                <a:ea typeface="Proxima Nova"/>
                <a:cs typeface="Proxima Nova"/>
                <a:sym typeface="Proxima Nova"/>
              </a:rPr>
              <a:t> Detection</a:t>
            </a:r>
            <a:endParaRPr sz="2400" b="1" dirty="0">
              <a:latin typeface="Proxima Nova"/>
              <a:ea typeface="Proxima Nova"/>
              <a:cs typeface="Proxima Nova"/>
              <a:sym typeface="Proxima Nova"/>
            </a:endParaRPr>
          </a:p>
        </p:txBody>
      </p:sp>
      <p:sp>
        <p:nvSpPr>
          <p:cNvPr id="112" name="Google Shape;112;p4">
            <a:extLst>
              <a:ext uri="{FF2B5EF4-FFF2-40B4-BE49-F238E27FC236}">
                <a16:creationId xmlns:a16="http://schemas.microsoft.com/office/drawing/2014/main" id="{0C44AB11-772C-2D28-81A0-EB5F325D5A38}"/>
              </a:ext>
            </a:extLst>
          </p:cNvPr>
          <p:cNvSpPr txBox="1"/>
          <p:nvPr/>
        </p:nvSpPr>
        <p:spPr>
          <a:xfrm>
            <a:off x="646157" y="1124750"/>
            <a:ext cx="10890900" cy="4785895"/>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err="1">
                <a:solidFill>
                  <a:srgbClr val="FF0000"/>
                </a:solidFill>
                <a:latin typeface="Proxima Nova"/>
                <a:ea typeface="Proxima Nova"/>
                <a:cs typeface="Proxima Nova"/>
                <a:sym typeface="Proxima Nova"/>
              </a:rPr>
              <a:t>Quishing</a:t>
            </a:r>
            <a:r>
              <a:rPr lang="en-US" sz="2000" b="1" i="0" u="none" strike="noStrike" cap="none" dirty="0">
                <a:solidFill>
                  <a:srgbClr val="FF0000"/>
                </a:solidFill>
                <a:latin typeface="Proxima Nova"/>
                <a:ea typeface="Proxima Nova"/>
                <a:cs typeface="Proxima Nova"/>
                <a:sym typeface="Proxima Nova"/>
              </a:rPr>
              <a:t> (QR Code Phishing) </a:t>
            </a:r>
            <a:r>
              <a:rPr lang="en-US" sz="2000" b="0" i="0" u="none" strike="noStrike" cap="none" dirty="0">
                <a:solidFill>
                  <a:srgbClr val="666666"/>
                </a:solidFill>
                <a:latin typeface="Proxima Nova"/>
                <a:ea typeface="Proxima Nova"/>
                <a:cs typeface="Proxima Nova"/>
                <a:sym typeface="Proxima Nova"/>
              </a:rPr>
              <a:t>is a phishing attack that uses </a:t>
            </a:r>
            <a:r>
              <a:rPr lang="en-US" sz="2000" b="1" i="0" u="none" strike="noStrike" cap="none" dirty="0">
                <a:solidFill>
                  <a:srgbClr val="FF0000"/>
                </a:solidFill>
                <a:latin typeface="Proxima Nova"/>
                <a:ea typeface="Proxima Nova"/>
                <a:cs typeface="Proxima Nova"/>
                <a:sym typeface="Proxima Nova"/>
              </a:rPr>
              <a:t>malicious QR codes</a:t>
            </a:r>
            <a:r>
              <a:rPr lang="en-US" sz="2000" b="0" i="0" u="none" strike="noStrike" cap="none" dirty="0">
                <a:solidFill>
                  <a:srgbClr val="666666"/>
                </a:solidFill>
                <a:latin typeface="Proxima Nova"/>
                <a:ea typeface="Proxima Nova"/>
                <a:cs typeface="Proxima Nova"/>
                <a:sym typeface="Proxima Nova"/>
              </a:rPr>
              <a:t> to redirect users to </a:t>
            </a:r>
            <a:r>
              <a:rPr lang="en-US" sz="2000" b="1" i="0" u="none" strike="noStrike" cap="none" dirty="0">
                <a:solidFill>
                  <a:srgbClr val="FF0000"/>
                </a:solidFill>
                <a:latin typeface="Proxima Nova"/>
                <a:ea typeface="Proxima Nova"/>
                <a:cs typeface="Proxima Nova"/>
                <a:sym typeface="Proxima Nova"/>
              </a:rPr>
              <a:t>fake or harmful websites.</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Users cannot </a:t>
            </a:r>
            <a:r>
              <a:rPr lang="en-US" sz="2000" b="1" i="0" u="none" strike="noStrike" cap="none" dirty="0">
                <a:solidFill>
                  <a:srgbClr val="FF0000"/>
                </a:solidFill>
                <a:latin typeface="Proxima Nova"/>
                <a:ea typeface="Proxima Nova"/>
                <a:cs typeface="Proxima Nova"/>
                <a:sym typeface="Proxima Nova"/>
              </a:rPr>
              <a:t>verify the destination</a:t>
            </a:r>
            <a:r>
              <a:rPr lang="en-US" sz="2000" b="0" i="0" u="none" strike="noStrike" cap="none" dirty="0">
                <a:solidFill>
                  <a:srgbClr val="666666"/>
                </a:solidFill>
                <a:latin typeface="Proxima Nova"/>
                <a:ea typeface="Proxima Nova"/>
                <a:cs typeface="Proxima Nova"/>
                <a:sym typeface="Proxima Nova"/>
              </a:rPr>
              <a:t> of a QR code before scanning it.</a:t>
            </a:r>
          </a:p>
          <a:p>
            <a:pPr marL="285750" marR="0" lvl="0" indent="-285750" algn="just" rtl="0">
              <a:lnSpc>
                <a:spcPct val="115000"/>
              </a:lnSpc>
              <a:spcBef>
                <a:spcPts val="0"/>
              </a:spcBef>
              <a:spcAft>
                <a:spcPts val="0"/>
              </a:spcAft>
              <a:buClr>
                <a:srgbClr val="000000"/>
              </a:buClr>
              <a:buSzPts val="1800"/>
              <a:buFont typeface="Arial"/>
              <a:buChar char="•"/>
            </a:pPr>
            <a:endParaRPr lang="en-US" sz="2000"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dirty="0">
                <a:solidFill>
                  <a:srgbClr val="666666"/>
                </a:solidFill>
                <a:latin typeface="Proxima Nova"/>
                <a:ea typeface="Proxima Nova"/>
                <a:cs typeface="Proxima Nova"/>
                <a:sym typeface="Proxima Nova"/>
              </a:rPr>
              <a:t>Traditional security systems often </a:t>
            </a:r>
            <a:r>
              <a:rPr lang="en-US" sz="2000" b="1" dirty="0">
                <a:solidFill>
                  <a:srgbClr val="FF0000"/>
                </a:solidFill>
                <a:latin typeface="Proxima Nova"/>
                <a:ea typeface="Proxima Nova"/>
                <a:cs typeface="Proxima Nova"/>
                <a:sym typeface="Proxima Nova"/>
              </a:rPr>
              <a:t>fail to detect malicious URLs</a:t>
            </a:r>
            <a:r>
              <a:rPr lang="en-US" sz="2000" dirty="0">
                <a:solidFill>
                  <a:srgbClr val="666666"/>
                </a:solidFill>
                <a:latin typeface="Proxima Nova"/>
                <a:ea typeface="Proxima Nova"/>
                <a:cs typeface="Proxima Nova"/>
                <a:sym typeface="Proxima Nova"/>
              </a:rPr>
              <a:t> hidden inside QR code images.</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err="1">
                <a:solidFill>
                  <a:srgbClr val="FF0000"/>
                </a:solidFill>
                <a:latin typeface="Proxima Nova"/>
                <a:ea typeface="Proxima Nova"/>
                <a:cs typeface="Proxima Nova"/>
                <a:sym typeface="Proxima Nova"/>
              </a:rPr>
              <a:t>Quishing</a:t>
            </a:r>
            <a:r>
              <a:rPr lang="en-US" sz="2000" b="1" i="0" u="none" strike="noStrike" cap="none" dirty="0">
                <a:solidFill>
                  <a:srgbClr val="FF0000"/>
                </a:solidFill>
                <a:latin typeface="Proxima Nova"/>
                <a:ea typeface="Proxima Nova"/>
                <a:cs typeface="Proxima Nova"/>
                <a:sym typeface="Proxima Nova"/>
              </a:rPr>
              <a:t> Detection </a:t>
            </a:r>
            <a:r>
              <a:rPr lang="en-US" sz="2000" b="0" i="0" u="none" strike="noStrike" cap="none" dirty="0">
                <a:solidFill>
                  <a:srgbClr val="666666"/>
                </a:solidFill>
                <a:latin typeface="Proxima Nova"/>
                <a:ea typeface="Proxima Nova"/>
                <a:cs typeface="Proxima Nova"/>
                <a:sym typeface="Proxima Nova"/>
              </a:rPr>
              <a:t>combines </a:t>
            </a:r>
            <a:r>
              <a:rPr lang="en-US" sz="2000" b="1" i="0" u="none" strike="noStrike" cap="none" dirty="0">
                <a:solidFill>
                  <a:srgbClr val="FF0000"/>
                </a:solidFill>
                <a:latin typeface="Proxima Nova"/>
                <a:ea typeface="Proxima Nova"/>
                <a:cs typeface="Proxima Nova"/>
                <a:sym typeface="Proxima Nova"/>
              </a:rPr>
              <a:t>image analysis </a:t>
            </a:r>
            <a:r>
              <a:rPr lang="en-US" sz="2000" b="0" i="0" u="none" strike="noStrike" cap="none" dirty="0">
                <a:solidFill>
                  <a:srgbClr val="666666"/>
                </a:solidFill>
                <a:latin typeface="Proxima Nova"/>
                <a:ea typeface="Proxima Nova"/>
                <a:cs typeface="Proxima Nova"/>
                <a:sym typeface="Proxima Nova"/>
              </a:rPr>
              <a:t>and </a:t>
            </a:r>
            <a:r>
              <a:rPr lang="en-US" sz="2000" b="1" i="0" u="none" strike="noStrike" cap="none" dirty="0">
                <a:solidFill>
                  <a:srgbClr val="FF0000"/>
                </a:solidFill>
                <a:latin typeface="Proxima Nova"/>
                <a:ea typeface="Proxima Nova"/>
                <a:cs typeface="Proxima Nova"/>
                <a:sym typeface="Proxima Nova"/>
              </a:rPr>
              <a:t>URL analysis</a:t>
            </a:r>
            <a:r>
              <a:rPr lang="en-US" sz="2000" b="0" i="0" u="none" strike="noStrike" cap="none" dirty="0">
                <a:solidFill>
                  <a:srgbClr val="666666"/>
                </a:solidFill>
                <a:latin typeface="Proxima Nova"/>
                <a:ea typeface="Proxima Nova"/>
                <a:cs typeface="Proxima Nova"/>
                <a:sym typeface="Proxima Nova"/>
              </a:rPr>
              <a:t> to identify phishing QR codes.</a:t>
            </a:r>
          </a:p>
          <a:p>
            <a:pPr marL="285750" marR="0" lvl="0" indent="-285750" algn="just" rtl="0">
              <a:lnSpc>
                <a:spcPct val="115000"/>
              </a:lnSpc>
              <a:spcBef>
                <a:spcPts val="0"/>
              </a:spcBef>
              <a:spcAft>
                <a:spcPts val="0"/>
              </a:spcAft>
              <a:buClr>
                <a:srgbClr val="000000"/>
              </a:buClr>
              <a:buSzPts val="1800"/>
              <a:buFont typeface="Arial"/>
              <a:buChar char="•"/>
            </a:pPr>
            <a:endParaRPr lang="en-US" sz="2000"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A </a:t>
            </a:r>
            <a:r>
              <a:rPr lang="en-US" sz="2000" b="1" i="0" u="none" strike="noStrike" cap="none" dirty="0">
                <a:solidFill>
                  <a:srgbClr val="FF0000"/>
                </a:solidFill>
                <a:latin typeface="Proxima Nova"/>
                <a:ea typeface="Proxima Nova"/>
                <a:cs typeface="Proxima Nova"/>
                <a:sym typeface="Proxima Nova"/>
              </a:rPr>
              <a:t>Hybrid Detection Approach </a:t>
            </a:r>
            <a:r>
              <a:rPr lang="en-US" sz="2000" b="0" i="0" u="none" strike="noStrike" cap="none" dirty="0">
                <a:solidFill>
                  <a:srgbClr val="666666"/>
                </a:solidFill>
                <a:latin typeface="Proxima Nova"/>
                <a:ea typeface="Proxima Nova"/>
                <a:cs typeface="Proxima Nova"/>
                <a:sym typeface="Proxima Nova"/>
              </a:rPr>
              <a:t>improves </a:t>
            </a:r>
            <a:r>
              <a:rPr lang="en-US" sz="2000" b="1" i="0" u="none" strike="noStrike" cap="none" dirty="0">
                <a:solidFill>
                  <a:srgbClr val="FF0000"/>
                </a:solidFill>
                <a:latin typeface="Proxima Nova"/>
                <a:ea typeface="Proxima Nova"/>
                <a:cs typeface="Proxima Nova"/>
                <a:sym typeface="Proxima Nova"/>
              </a:rPr>
              <a:t>accuracy</a:t>
            </a:r>
            <a:r>
              <a:rPr lang="en-US" sz="2000" b="0" i="0" u="none" strike="noStrike" cap="none" dirty="0">
                <a:solidFill>
                  <a:srgbClr val="666666"/>
                </a:solidFill>
                <a:latin typeface="Proxima Nova"/>
                <a:ea typeface="Proxima Nova"/>
                <a:cs typeface="Proxima Nova"/>
                <a:sym typeface="Proxima Nova"/>
              </a:rPr>
              <a:t> and provides better protection against </a:t>
            </a:r>
            <a:r>
              <a:rPr lang="en-US" sz="2000" b="0" i="0" u="none" strike="noStrike" cap="none" dirty="0" err="1">
                <a:solidFill>
                  <a:srgbClr val="666666"/>
                </a:solidFill>
                <a:latin typeface="Proxima Nova"/>
                <a:ea typeface="Proxima Nova"/>
                <a:cs typeface="Proxima Nova"/>
                <a:sym typeface="Proxima Nova"/>
              </a:rPr>
              <a:t>Quishing</a:t>
            </a:r>
            <a:r>
              <a:rPr lang="en-US" sz="2000" b="0" i="0" u="none" strike="noStrike" cap="none" dirty="0">
                <a:solidFill>
                  <a:srgbClr val="666666"/>
                </a:solidFill>
                <a:latin typeface="Proxima Nova"/>
                <a:ea typeface="Proxima Nova"/>
                <a:cs typeface="Proxima Nova"/>
                <a:sym typeface="Proxima Nova"/>
              </a:rPr>
              <a:t> attacks.</a:t>
            </a:r>
          </a:p>
        </p:txBody>
      </p:sp>
    </p:spTree>
    <p:extLst>
      <p:ext uri="{BB962C8B-B14F-4D97-AF65-F5344CB8AC3E}">
        <p14:creationId xmlns:p14="http://schemas.microsoft.com/office/powerpoint/2010/main" val="3106878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117" name="Google Shape;117;g3c5179bf9a9_0_0"/>
          <p:cNvSpPr txBox="1">
            <a:spLocks noGrp="1"/>
          </p:cNvSpPr>
          <p:nvPr>
            <p:ph type="title"/>
          </p:nvPr>
        </p:nvSpPr>
        <p:spPr>
          <a:xfrm>
            <a:off x="534247" y="309550"/>
            <a:ext cx="30210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How Attack Works</a:t>
            </a:r>
            <a:endParaRPr sz="2400" b="1">
              <a:latin typeface="Proxima Nova"/>
              <a:ea typeface="Proxima Nova"/>
              <a:cs typeface="Proxima Nova"/>
              <a:sym typeface="Proxima Nova"/>
            </a:endParaRPr>
          </a:p>
        </p:txBody>
      </p:sp>
      <p:pic>
        <p:nvPicPr>
          <p:cNvPr id="118" name="Google Shape;118;g3c5179bf9a9_0_0"/>
          <p:cNvPicPr preferRelativeResize="0"/>
          <p:nvPr/>
        </p:nvPicPr>
        <p:blipFill rotWithShape="1">
          <a:blip r:embed="rId4">
            <a:alphaModFix/>
          </a:blip>
          <a:srcRect/>
          <a:stretch/>
        </p:blipFill>
        <p:spPr>
          <a:xfrm>
            <a:off x="1437461" y="2098622"/>
            <a:ext cx="9317078" cy="26607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g3c5179bf9a9_0_7"/>
          <p:cNvSpPr txBox="1">
            <a:spLocks noGrp="1"/>
          </p:cNvSpPr>
          <p:nvPr>
            <p:ph type="title"/>
          </p:nvPr>
        </p:nvSpPr>
        <p:spPr>
          <a:xfrm>
            <a:off x="534247" y="309550"/>
            <a:ext cx="30210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How Attack Works</a:t>
            </a:r>
            <a:endParaRPr sz="2400" b="1">
              <a:latin typeface="Proxima Nova"/>
              <a:ea typeface="Proxima Nova"/>
              <a:cs typeface="Proxima Nova"/>
              <a:sym typeface="Proxima Nova"/>
            </a:endParaRPr>
          </a:p>
        </p:txBody>
      </p:sp>
      <p:sp>
        <p:nvSpPr>
          <p:cNvPr id="124" name="Google Shape;124;g3c5179bf9a9_0_7"/>
          <p:cNvSpPr txBox="1"/>
          <p:nvPr/>
        </p:nvSpPr>
        <p:spPr>
          <a:xfrm>
            <a:off x="646157" y="1124750"/>
            <a:ext cx="10890900" cy="3370123"/>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Link Creation: </a:t>
            </a:r>
            <a:r>
              <a:rPr lang="en-US" sz="1800" b="0" i="0" u="none" strike="noStrike" cap="none" dirty="0">
                <a:solidFill>
                  <a:srgbClr val="666666"/>
                </a:solidFill>
                <a:latin typeface="Proxima Nova"/>
                <a:ea typeface="Proxima Nova"/>
                <a:cs typeface="Proxima Nova"/>
                <a:sym typeface="Proxima Nova"/>
              </a:rPr>
              <a:t>The attacker sets up a fake website (phishing page).</a:t>
            </a:r>
          </a:p>
          <a:p>
            <a:pPr marL="285750" marR="0" lvl="0" indent="-285750" algn="just" rtl="0">
              <a:lnSpc>
                <a:spcPct val="115000"/>
              </a:lnSpc>
              <a:spcBef>
                <a:spcPts val="0"/>
              </a:spcBef>
              <a:spcAft>
                <a:spcPts val="0"/>
              </a:spcAft>
              <a:buClr>
                <a:srgbClr val="000000"/>
              </a:buClr>
              <a:buSzPts val="1800"/>
              <a:buFont typeface="Arial"/>
              <a:buChar char="•"/>
            </a:pPr>
            <a:endParaRPr lang="en-US" sz="18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QR Code Generation: </a:t>
            </a:r>
            <a:r>
              <a:rPr lang="en-US" sz="1800" b="0" i="0" u="none" strike="noStrike" cap="none" dirty="0">
                <a:solidFill>
                  <a:srgbClr val="666666"/>
                </a:solidFill>
                <a:latin typeface="Proxima Nova"/>
                <a:ea typeface="Proxima Nova"/>
                <a:cs typeface="Proxima Nova"/>
                <a:sym typeface="Proxima Nova"/>
              </a:rPr>
              <a:t>The attacker converts the malicious link into a QR code.</a:t>
            </a:r>
          </a:p>
          <a:p>
            <a:pPr marL="285750" marR="0" lvl="0" indent="-285750" algn="just" rtl="0">
              <a:lnSpc>
                <a:spcPct val="115000"/>
              </a:lnSpc>
              <a:spcBef>
                <a:spcPts val="0"/>
              </a:spcBef>
              <a:spcAft>
                <a:spcPts val="0"/>
              </a:spcAft>
              <a:buClr>
                <a:srgbClr val="000000"/>
              </a:buClr>
              <a:buSzPts val="1800"/>
              <a:buFont typeface="Arial"/>
              <a:buChar char="•"/>
            </a:pPr>
            <a:endParaRPr lang="en-US" sz="18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Distribution: </a:t>
            </a:r>
            <a:r>
              <a:rPr lang="en-US" sz="1800" b="0" i="0" u="none" strike="noStrike" cap="none" dirty="0">
                <a:solidFill>
                  <a:srgbClr val="666666"/>
                </a:solidFill>
                <a:latin typeface="Proxima Nova"/>
                <a:ea typeface="Proxima Nova"/>
                <a:cs typeface="Proxima Nova"/>
                <a:sym typeface="Proxima Nova"/>
              </a:rPr>
              <a:t>The attacker prints and sticks it on public areas (like parking meters, public tables) or sends it via phishing emails.</a:t>
            </a:r>
          </a:p>
          <a:p>
            <a:pPr marL="285750" marR="0" lvl="0" indent="-285750" algn="just" rtl="0">
              <a:lnSpc>
                <a:spcPct val="115000"/>
              </a:lnSpc>
              <a:spcBef>
                <a:spcPts val="0"/>
              </a:spcBef>
              <a:spcAft>
                <a:spcPts val="0"/>
              </a:spcAft>
              <a:buClr>
                <a:srgbClr val="000000"/>
              </a:buClr>
              <a:buSzPts val="1800"/>
              <a:buFont typeface="Arial"/>
              <a:buChar char="•"/>
            </a:pPr>
            <a:endParaRPr lang="en-US" sz="18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User Action: </a:t>
            </a:r>
            <a:r>
              <a:rPr lang="en-US" sz="1800" b="0" i="0" u="none" strike="noStrike" cap="none" dirty="0">
                <a:solidFill>
                  <a:srgbClr val="666666"/>
                </a:solidFill>
                <a:latin typeface="Proxima Nova"/>
                <a:ea typeface="Proxima Nova"/>
                <a:cs typeface="Proxima Nova"/>
                <a:sym typeface="Proxima Nova"/>
              </a:rPr>
              <a:t>The victim scans the QR code, bypassing email filters.</a:t>
            </a:r>
          </a:p>
          <a:p>
            <a:pPr marL="285750" marR="0" lvl="0" indent="-285750" algn="just" rtl="0">
              <a:lnSpc>
                <a:spcPct val="115000"/>
              </a:lnSpc>
              <a:spcBef>
                <a:spcPts val="0"/>
              </a:spcBef>
              <a:spcAft>
                <a:spcPts val="0"/>
              </a:spcAft>
              <a:buClr>
                <a:srgbClr val="000000"/>
              </a:buClr>
              <a:buSzPts val="1800"/>
              <a:buFont typeface="Arial"/>
              <a:buChar char="•"/>
            </a:pPr>
            <a:endParaRPr lang="en-US" sz="18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Exploitation: </a:t>
            </a:r>
            <a:r>
              <a:rPr lang="en-US" sz="1800" b="0" i="0" u="none" strike="noStrike" cap="none" dirty="0">
                <a:solidFill>
                  <a:srgbClr val="666666"/>
                </a:solidFill>
                <a:latin typeface="Proxima Nova"/>
                <a:ea typeface="Proxima Nova"/>
                <a:cs typeface="Proxima Nova"/>
                <a:sym typeface="Proxima Nova"/>
              </a:rPr>
              <a:t>The victim is redirected to the fake site, leading to credential theft or malware download.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8"/>
        <p:cNvGrpSpPr/>
        <p:nvPr/>
      </p:nvGrpSpPr>
      <p:grpSpPr>
        <a:xfrm>
          <a:off x="0" y="0"/>
          <a:ext cx="0" cy="0"/>
          <a:chOff x="0" y="0"/>
          <a:chExt cx="0" cy="0"/>
        </a:xfrm>
      </p:grpSpPr>
      <p:sp>
        <p:nvSpPr>
          <p:cNvPr id="129" name="Google Shape;129;g3c4b2ca8496_0_3"/>
          <p:cNvSpPr txBox="1">
            <a:spLocks noGrp="1"/>
          </p:cNvSpPr>
          <p:nvPr>
            <p:ph type="title"/>
          </p:nvPr>
        </p:nvSpPr>
        <p:spPr>
          <a:xfrm>
            <a:off x="534248" y="309550"/>
            <a:ext cx="2842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Problem Statement</a:t>
            </a:r>
            <a:endParaRPr sz="2400" b="1">
              <a:solidFill>
                <a:srgbClr val="04A2B9"/>
              </a:solidFill>
              <a:latin typeface="Proxima Nova"/>
              <a:ea typeface="Proxima Nova"/>
              <a:cs typeface="Proxima Nova"/>
              <a:sym typeface="Proxima Nova"/>
            </a:endParaRPr>
          </a:p>
        </p:txBody>
      </p:sp>
      <p:sp>
        <p:nvSpPr>
          <p:cNvPr id="130" name="Google Shape;130;g3c4b2ca8496_0_3"/>
          <p:cNvSpPr txBox="1"/>
          <p:nvPr/>
        </p:nvSpPr>
        <p:spPr>
          <a:xfrm>
            <a:off x="646156" y="1124750"/>
            <a:ext cx="10673700" cy="4431952"/>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QR codes cannot be read by </a:t>
            </a:r>
            <a:r>
              <a:rPr lang="en-US" sz="2000" b="1" i="0" u="none" strike="noStrike" cap="none" dirty="0">
                <a:solidFill>
                  <a:srgbClr val="FF0000"/>
                </a:solidFill>
                <a:latin typeface="Proxima Nova"/>
                <a:ea typeface="Proxima Nova"/>
                <a:cs typeface="Proxima Nova"/>
                <a:sym typeface="Proxima Nova"/>
              </a:rPr>
              <a:t>humans</a:t>
            </a:r>
            <a:r>
              <a:rPr lang="en-US" sz="2000" b="0" i="0" u="none" strike="noStrike" cap="none" dirty="0">
                <a:solidFill>
                  <a:srgbClr val="666666"/>
                </a:solidFill>
                <a:latin typeface="Proxima Nova"/>
                <a:ea typeface="Proxima Nova"/>
                <a:cs typeface="Proxima Nova"/>
                <a:sym typeface="Proxima Nova"/>
              </a:rPr>
              <a:t>, so users cannot know whether the link is </a:t>
            </a:r>
            <a:r>
              <a:rPr lang="en-US" sz="2000" b="1" i="0" u="none" strike="noStrike" cap="none" dirty="0">
                <a:solidFill>
                  <a:srgbClr val="FF0000"/>
                </a:solidFill>
                <a:latin typeface="Proxima Nova"/>
                <a:ea typeface="Proxima Nova"/>
                <a:cs typeface="Proxima Nova"/>
                <a:sym typeface="Proxima Nova"/>
              </a:rPr>
              <a:t>safe or malicious</a:t>
            </a:r>
            <a:r>
              <a:rPr lang="en-US" sz="2000" b="0" i="0" u="none" strike="noStrike" cap="none" dirty="0">
                <a:solidFill>
                  <a:srgbClr val="666666"/>
                </a:solidFill>
                <a:latin typeface="Proxima Nova"/>
                <a:ea typeface="Proxima Nova"/>
                <a:cs typeface="Proxima Nova"/>
                <a:sym typeface="Proxima Nova"/>
              </a:rPr>
              <a:t> before scanning.</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Traditional security systems mainly check </a:t>
            </a:r>
            <a:r>
              <a:rPr lang="en-US" sz="2000" i="0" u="none" strike="noStrike" cap="none" dirty="0">
                <a:solidFill>
                  <a:srgbClr val="666666"/>
                </a:solidFill>
                <a:latin typeface="Proxima Nova"/>
                <a:ea typeface="Proxima Nova"/>
                <a:cs typeface="Proxima Nova"/>
                <a:sym typeface="Proxima Nova"/>
              </a:rPr>
              <a:t>text, emails, and attachments</a:t>
            </a:r>
            <a:r>
              <a:rPr lang="en-US" sz="2000" b="0" i="0" u="none" strike="noStrike" cap="none" dirty="0">
                <a:solidFill>
                  <a:srgbClr val="666666"/>
                </a:solidFill>
                <a:latin typeface="Proxima Nova"/>
                <a:ea typeface="Proxima Nova"/>
                <a:cs typeface="Proxima Nova"/>
                <a:sym typeface="Proxima Nova"/>
              </a:rPr>
              <a:t>, but they often </a:t>
            </a:r>
            <a:r>
              <a:rPr lang="en-US" sz="2000" b="1" i="0" u="none" strike="noStrike" cap="none" dirty="0">
                <a:solidFill>
                  <a:srgbClr val="FF0000"/>
                </a:solidFill>
                <a:latin typeface="Proxima Nova"/>
                <a:ea typeface="Proxima Nova"/>
                <a:cs typeface="Proxima Nova"/>
                <a:sym typeface="Proxima Nova"/>
              </a:rPr>
              <a:t>fail to detect malicious links</a:t>
            </a:r>
            <a:r>
              <a:rPr lang="en-US" sz="2000" b="0" i="0" u="none" strike="noStrike" cap="none" dirty="0">
                <a:solidFill>
                  <a:srgbClr val="666666"/>
                </a:solidFill>
                <a:latin typeface="Proxima Nova"/>
                <a:ea typeface="Proxima Nova"/>
                <a:cs typeface="Proxima Nova"/>
                <a:sym typeface="Proxima Nova"/>
              </a:rPr>
              <a:t> hidden inside QR code images.</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Attackers use </a:t>
            </a:r>
            <a:r>
              <a:rPr lang="en-US" sz="2000" b="1" i="0" u="none" strike="noStrike" cap="none" dirty="0">
                <a:solidFill>
                  <a:srgbClr val="FF0000"/>
                </a:solidFill>
                <a:latin typeface="Proxima Nova"/>
                <a:ea typeface="Proxima Nova"/>
                <a:cs typeface="Proxima Nova"/>
                <a:sym typeface="Proxima Nova"/>
              </a:rPr>
              <a:t>shortened or redirected URLs</a:t>
            </a:r>
            <a:r>
              <a:rPr lang="en-US" sz="2000" b="0" i="0" u="none" strike="noStrike" cap="none" dirty="0">
                <a:solidFill>
                  <a:srgbClr val="666666"/>
                </a:solidFill>
                <a:latin typeface="Proxima Nova"/>
                <a:ea typeface="Proxima Nova"/>
                <a:cs typeface="Proxima Nova"/>
                <a:sym typeface="Proxima Nova"/>
              </a:rPr>
              <a:t> to hide the real destination, making it difficult to identify phishing websites by checking the URL alone.</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As QR code usage is increasing in </a:t>
            </a:r>
            <a:r>
              <a:rPr lang="en-US" sz="2000" b="1" i="0" u="none" strike="noStrike" cap="none" dirty="0">
                <a:solidFill>
                  <a:srgbClr val="FF0000"/>
                </a:solidFill>
                <a:latin typeface="Proxima Nova"/>
                <a:ea typeface="Proxima Nova"/>
                <a:cs typeface="Proxima Nova"/>
                <a:sym typeface="Proxima Nova"/>
              </a:rPr>
              <a:t>payments, advertisements, and login systems</a:t>
            </a:r>
            <a:r>
              <a:rPr lang="en-US" sz="2000" b="0" i="0" u="none" strike="noStrike" cap="none" dirty="0">
                <a:solidFill>
                  <a:srgbClr val="666666"/>
                </a:solidFill>
                <a:latin typeface="Proxima Nova"/>
                <a:ea typeface="Proxima Nova"/>
                <a:cs typeface="Proxima Nova"/>
                <a:sym typeface="Proxima Nova"/>
              </a:rPr>
              <a:t>, there is a need for an accurate and reliable system that can detect phishing QR codes before users become victims.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p:cNvGrpSpPr/>
        <p:nvPr/>
      </p:nvGrpSpPr>
      <p:grpSpPr>
        <a:xfrm>
          <a:off x="0" y="0"/>
          <a:ext cx="0" cy="0"/>
          <a:chOff x="0" y="0"/>
          <a:chExt cx="0" cy="0"/>
        </a:xfrm>
      </p:grpSpPr>
      <p:sp>
        <p:nvSpPr>
          <p:cNvPr id="136" name="Google Shape;136;g3c4b2ca8496_0_9"/>
          <p:cNvSpPr txBox="1">
            <a:spLocks noGrp="1"/>
          </p:cNvSpPr>
          <p:nvPr>
            <p:ph type="title"/>
          </p:nvPr>
        </p:nvSpPr>
        <p:spPr>
          <a:xfrm>
            <a:off x="534246" y="309550"/>
            <a:ext cx="3433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6AA5AAF1-CF31-02B5-5203-B47CF9805FDD}"/>
              </a:ext>
            </a:extLst>
          </p:cNvPr>
          <p:cNvGraphicFramePr>
            <a:graphicFrameLocks noGrp="1"/>
          </p:cNvGraphicFramePr>
          <p:nvPr>
            <p:extLst>
              <p:ext uri="{D42A27DB-BD31-4B8C-83A1-F6EECF244321}">
                <p14:modId xmlns:p14="http://schemas.microsoft.com/office/powerpoint/2010/main" val="2295269594"/>
              </p:ext>
            </p:extLst>
          </p:nvPr>
        </p:nvGraphicFramePr>
        <p:xfrm>
          <a:off x="534246" y="1193801"/>
          <a:ext cx="10895754" cy="5096931"/>
        </p:xfrm>
        <a:graphic>
          <a:graphicData uri="http://schemas.openxmlformats.org/drawingml/2006/table">
            <a:tbl>
              <a:tblPr>
                <a:tableStyleId>{CA4FEF56-FCC3-4894-9D36-9FA669C9C288}</a:tableStyleId>
              </a:tblPr>
              <a:tblGrid>
                <a:gridCol w="371415">
                  <a:extLst>
                    <a:ext uri="{9D8B030D-6E8A-4147-A177-3AD203B41FA5}">
                      <a16:colId xmlns:a16="http://schemas.microsoft.com/office/drawing/2014/main" val="3662520114"/>
                    </a:ext>
                  </a:extLst>
                </a:gridCol>
                <a:gridCol w="1933757">
                  <a:extLst>
                    <a:ext uri="{9D8B030D-6E8A-4147-A177-3AD203B41FA5}">
                      <a16:colId xmlns:a16="http://schemas.microsoft.com/office/drawing/2014/main" val="2807159209"/>
                    </a:ext>
                  </a:extLst>
                </a:gridCol>
                <a:gridCol w="1576012">
                  <a:extLst>
                    <a:ext uri="{9D8B030D-6E8A-4147-A177-3AD203B41FA5}">
                      <a16:colId xmlns:a16="http://schemas.microsoft.com/office/drawing/2014/main" val="3236377373"/>
                    </a:ext>
                  </a:extLst>
                </a:gridCol>
                <a:gridCol w="1576012">
                  <a:extLst>
                    <a:ext uri="{9D8B030D-6E8A-4147-A177-3AD203B41FA5}">
                      <a16:colId xmlns:a16="http://schemas.microsoft.com/office/drawing/2014/main" val="3003284057"/>
                    </a:ext>
                  </a:extLst>
                </a:gridCol>
                <a:gridCol w="1290649">
                  <a:extLst>
                    <a:ext uri="{9D8B030D-6E8A-4147-A177-3AD203B41FA5}">
                      <a16:colId xmlns:a16="http://schemas.microsoft.com/office/drawing/2014/main" val="2702982347"/>
                    </a:ext>
                  </a:extLst>
                </a:gridCol>
                <a:gridCol w="1160254">
                  <a:extLst>
                    <a:ext uri="{9D8B030D-6E8A-4147-A177-3AD203B41FA5}">
                      <a16:colId xmlns:a16="http://schemas.microsoft.com/office/drawing/2014/main" val="1098162198"/>
                    </a:ext>
                  </a:extLst>
                </a:gridCol>
                <a:gridCol w="1053898">
                  <a:extLst>
                    <a:ext uri="{9D8B030D-6E8A-4147-A177-3AD203B41FA5}">
                      <a16:colId xmlns:a16="http://schemas.microsoft.com/office/drawing/2014/main" val="433211570"/>
                    </a:ext>
                  </a:extLst>
                </a:gridCol>
                <a:gridCol w="1933757">
                  <a:extLst>
                    <a:ext uri="{9D8B030D-6E8A-4147-A177-3AD203B41FA5}">
                      <a16:colId xmlns:a16="http://schemas.microsoft.com/office/drawing/2014/main" val="2220000499"/>
                    </a:ext>
                  </a:extLst>
                </a:gridCol>
              </a:tblGrid>
              <a:tr h="499391">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cs typeface="Arial"/>
                          <a:sym typeface="Arial"/>
                        </a:rPr>
                        <a:t>Ref</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Author &amp; Year</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Detection Technique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QR Code Analysis Method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Features Used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AI/ML Model</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Dataset Source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Research Gap</a:t>
                      </a:r>
                    </a:p>
                  </a:txBody>
                  <a:tcPr marL="27657" marR="2305" marT="2305" marB="0" anchor="ctr">
                    <a:solidFill>
                      <a:schemeClr val="tx2"/>
                    </a:solidFill>
                  </a:tcPr>
                </a:tc>
                <a:extLst>
                  <a:ext uri="{0D108BD9-81ED-4DB2-BD59-A6C34878D82A}">
                    <a16:rowId xmlns:a16="http://schemas.microsoft.com/office/drawing/2014/main" val="398435645"/>
                  </a:ext>
                </a:extLst>
              </a:tr>
              <a:tr h="919508">
                <a:tc>
                  <a:txBody>
                    <a:bodyPr/>
                    <a:lstStyle/>
                    <a:p>
                      <a:pPr algn="ctr" rtl="0" fontAlgn="ctr">
                        <a:buNone/>
                      </a:pPr>
                      <a:r>
                        <a:rPr lang="en-US" sz="1200" b="1" i="0" u="none" strike="noStrike" dirty="0">
                          <a:solidFill>
                            <a:srgbClr val="1F1F1F"/>
                          </a:solidFill>
                          <a:effectLst/>
                          <a:latin typeface="Proxima Nova" panose="020B0604020202020204" charset="0"/>
                        </a:rPr>
                        <a:t>[1</a:t>
                      </a:r>
                      <a:r>
                        <a:rPr lang="en-IN" sz="1200" b="1" i="0" u="none" strike="noStrike" dirty="0">
                          <a:solidFill>
                            <a:srgbClr val="1F1F1F"/>
                          </a:solidFill>
                          <a:effectLst/>
                          <a:latin typeface="Proxima Nova" panose="020B0604020202020204" charset="0"/>
                        </a:rPr>
                        <a:t>]</a:t>
                      </a:r>
                    </a:p>
                  </a:txBody>
                  <a:tcPr marL="27657" marR="2305" marT="2305" marB="0" anchor="ctr"/>
                </a:tc>
                <a:tc>
                  <a:txBody>
                    <a:bodyPr/>
                    <a:lstStyle/>
                    <a:p>
                      <a:pPr algn="l" rtl="0" fontAlgn="ctr">
                        <a:buNone/>
                      </a:pPr>
                      <a:r>
                        <a:rPr lang="en-IN" sz="1200" u="none" strike="noStrike" dirty="0">
                          <a:effectLst/>
                          <a:latin typeface="Proxima Nova" panose="020B0604020202020204" charset="0"/>
                        </a:rPr>
                        <a:t>Yalda et al., 2026</a:t>
                      </a:r>
                      <a:endParaRPr lang="en-IN" sz="1200" b="0" i="0" u="none" strike="noStrike" dirty="0">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Blockchain authentication</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Cryptographic chaining</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Cryptographic hash, metadata, QR ID</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Cryptographic</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Custom Simulated Blockchain</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Traditional systems lack real-time revocation and have shared key vulnerabilities.</a:t>
                      </a:r>
                      <a:endParaRPr lang="en-IN" sz="1200" b="0" i="0" u="none" strike="noStrike">
                        <a:solidFill>
                          <a:srgbClr val="1F1F1F"/>
                        </a:solidFill>
                        <a:effectLst/>
                        <a:latin typeface="Proxima Nova" panose="020B0604020202020204" charset="0"/>
                      </a:endParaRPr>
                    </a:p>
                  </a:txBody>
                  <a:tcPr marL="27657" marR="2305" marT="2305" marB="0" anchor="ctr"/>
                </a:tc>
                <a:extLst>
                  <a:ext uri="{0D108BD9-81ED-4DB2-BD59-A6C34878D82A}">
                    <a16:rowId xmlns:a16="http://schemas.microsoft.com/office/drawing/2014/main" val="2032673840"/>
                  </a:ext>
                </a:extLst>
              </a:tr>
              <a:tr h="919508">
                <a:tc>
                  <a:txBody>
                    <a:bodyPr/>
                    <a:lstStyle/>
                    <a:p>
                      <a:pPr algn="ctr" rtl="0" fontAlgn="ctr">
                        <a:buNone/>
                      </a:pPr>
                      <a:r>
                        <a:rPr lang="en-US" sz="1200" b="1" i="0" u="none" strike="noStrike" dirty="0">
                          <a:solidFill>
                            <a:srgbClr val="1F1F1F"/>
                          </a:solidFill>
                          <a:effectLst/>
                          <a:latin typeface="Proxima Nova" panose="020B0604020202020204" charset="0"/>
                        </a:rPr>
                        <a:t>[2</a:t>
                      </a:r>
                      <a:r>
                        <a:rPr lang="en-IN" sz="1200" b="1" i="0" u="none" strike="noStrike" dirty="0">
                          <a:solidFill>
                            <a:srgbClr val="1F1F1F"/>
                          </a:solidFill>
                          <a:effectLst/>
                          <a:latin typeface="Proxima Nova" panose="020B0604020202020204" charset="0"/>
                        </a:rPr>
                        <a:t>]</a:t>
                      </a:r>
                    </a:p>
                  </a:txBody>
                  <a:tcPr marL="27657" marR="2305" marT="2305" marB="0" anchor="ctr"/>
                </a:tc>
                <a:tc>
                  <a:txBody>
                    <a:bodyPr/>
                    <a:lstStyle/>
                    <a:p>
                      <a:pPr algn="l" rtl="0" fontAlgn="ctr">
                        <a:buNone/>
                      </a:pPr>
                      <a:r>
                        <a:rPr lang="en-IN" sz="1200" u="none" strike="noStrike" dirty="0">
                          <a:effectLst/>
                          <a:latin typeface="Proxima Nova" panose="020B0604020202020204" charset="0"/>
                        </a:rPr>
                        <a:t>Rafsanjani et al., 2026</a:t>
                      </a:r>
                      <a:endParaRPr lang="en-IN" sz="1200" b="0" i="0" u="none" strike="noStrike" dirty="0">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dirty="0">
                          <a:effectLst/>
                          <a:latin typeface="Proxima Nova" panose="020B0604020202020204" charset="0"/>
                        </a:rPr>
                        <a:t>Static feature classification</a:t>
                      </a:r>
                      <a:endParaRPr lang="en-IN" sz="1200" b="0" i="0" u="none" strike="noStrike" dirty="0">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URL lexical &amp; host analysis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Blacklist, lexical, host, content features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Heuristic rule-based</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URLhaus, PhishTank</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ML models are data-dependent; excessive app permissions compromise privacy.</a:t>
                      </a:r>
                      <a:endParaRPr lang="en-IN" sz="1200" b="0" i="0" u="none" strike="noStrike">
                        <a:solidFill>
                          <a:srgbClr val="1F1F1F"/>
                        </a:solidFill>
                        <a:effectLst/>
                        <a:latin typeface="Proxima Nova" panose="020B0604020202020204" charset="0"/>
                      </a:endParaRPr>
                    </a:p>
                  </a:txBody>
                  <a:tcPr marL="27657" marR="2305" marT="2305" marB="0" anchor="ctr"/>
                </a:tc>
                <a:extLst>
                  <a:ext uri="{0D108BD9-81ED-4DB2-BD59-A6C34878D82A}">
                    <a16:rowId xmlns:a16="http://schemas.microsoft.com/office/drawing/2014/main" val="2632312848"/>
                  </a:ext>
                </a:extLst>
              </a:tr>
              <a:tr h="919508">
                <a:tc>
                  <a:txBody>
                    <a:bodyPr/>
                    <a:lstStyle/>
                    <a:p>
                      <a:pPr algn="ctr" rtl="0" fontAlgn="ctr">
                        <a:buNone/>
                      </a:pPr>
                      <a:r>
                        <a:rPr lang="en-US" sz="1200" b="1" i="0" u="none" strike="noStrike" dirty="0">
                          <a:solidFill>
                            <a:srgbClr val="1F1F1F"/>
                          </a:solidFill>
                          <a:effectLst/>
                          <a:latin typeface="Proxima Nova" panose="020B0604020202020204" charset="0"/>
                        </a:rPr>
                        <a:t>[3</a:t>
                      </a:r>
                      <a:r>
                        <a:rPr lang="en-IN" sz="1200" b="1" i="0" u="none" strike="noStrike" dirty="0">
                          <a:solidFill>
                            <a:srgbClr val="1F1F1F"/>
                          </a:solidFill>
                          <a:effectLst/>
                          <a:latin typeface="Proxima Nova" panose="020B0604020202020204" charset="0"/>
                        </a:rPr>
                        <a:t>]</a:t>
                      </a:r>
                    </a:p>
                  </a:txBody>
                  <a:tcPr marL="27657" marR="2305" marT="2305" marB="0" anchor="ctr"/>
                </a:tc>
                <a:tc>
                  <a:txBody>
                    <a:bodyPr/>
                    <a:lstStyle/>
                    <a:p>
                      <a:pPr algn="l" rtl="0" fontAlgn="ctr">
                        <a:buNone/>
                      </a:pPr>
                      <a:r>
                        <a:rPr lang="en-IN" sz="1200" u="none" strike="noStrike" dirty="0" err="1">
                          <a:effectLst/>
                          <a:latin typeface="Proxima Nova" panose="020B0604020202020204" charset="0"/>
                        </a:rPr>
                        <a:t>Nejati</a:t>
                      </a:r>
                      <a:r>
                        <a:rPr lang="en-IN" sz="1200" u="none" strike="noStrike" dirty="0">
                          <a:effectLst/>
                          <a:latin typeface="Proxima Nova" panose="020B0604020202020204" charset="0"/>
                        </a:rPr>
                        <a:t> et al., 2026</a:t>
                      </a:r>
                      <a:endParaRPr lang="en-IN" sz="1200" b="0" i="0" u="none" strike="noStrike" dirty="0">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Hybrid (Image &amp; URL)</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CNN &amp; Lexical analysis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Spatial patterns, URL tokens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CNN, LLMs, RF, XGBoost</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PhishStorm, MalwareBazaar, PhishTank</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Lack of comprehensive multi-format datasets covering diverse attachment types.</a:t>
                      </a:r>
                      <a:endParaRPr lang="en-IN" sz="1200" b="0" i="0" u="none" strike="noStrike">
                        <a:solidFill>
                          <a:srgbClr val="1F1F1F"/>
                        </a:solidFill>
                        <a:effectLst/>
                        <a:latin typeface="Proxima Nova" panose="020B0604020202020204" charset="0"/>
                      </a:endParaRPr>
                    </a:p>
                  </a:txBody>
                  <a:tcPr marL="27657" marR="2305" marT="2305" marB="0" anchor="ctr"/>
                </a:tc>
                <a:extLst>
                  <a:ext uri="{0D108BD9-81ED-4DB2-BD59-A6C34878D82A}">
                    <a16:rowId xmlns:a16="http://schemas.microsoft.com/office/drawing/2014/main" val="875964710"/>
                  </a:ext>
                </a:extLst>
              </a:tr>
              <a:tr h="919508">
                <a:tc>
                  <a:txBody>
                    <a:bodyPr/>
                    <a:lstStyle/>
                    <a:p>
                      <a:pPr algn="ctr" rtl="0" fontAlgn="ctr">
                        <a:buNone/>
                      </a:pPr>
                      <a:r>
                        <a:rPr lang="en-US" sz="1200" b="1" i="0" u="none" strike="noStrike" dirty="0">
                          <a:solidFill>
                            <a:srgbClr val="1F1F1F"/>
                          </a:solidFill>
                          <a:effectLst/>
                          <a:latin typeface="Proxima Nova" panose="020B0604020202020204" charset="0"/>
                        </a:rPr>
                        <a:t>[4</a:t>
                      </a:r>
                      <a:r>
                        <a:rPr lang="en-IN" sz="1200" b="1" i="0" u="none" strike="noStrike" dirty="0">
                          <a:solidFill>
                            <a:srgbClr val="1F1F1F"/>
                          </a:solidFill>
                          <a:effectLst/>
                          <a:latin typeface="Proxima Nova" panose="020B0604020202020204" charset="0"/>
                        </a:rPr>
                        <a:t>]</a:t>
                      </a:r>
                    </a:p>
                  </a:txBody>
                  <a:tcPr marL="27657" marR="2305" marT="2305" marB="0" anchor="ctr"/>
                </a:tc>
                <a:tc>
                  <a:txBody>
                    <a:bodyPr/>
                    <a:lstStyle/>
                    <a:p>
                      <a:pPr algn="l" rtl="0" fontAlgn="ctr">
                        <a:buNone/>
                      </a:pPr>
                      <a:r>
                        <a:rPr lang="en-IN" sz="1200" u="none" strike="noStrike">
                          <a:effectLst/>
                          <a:latin typeface="Proxima Nova" panose="020B0604020202020204" charset="0"/>
                        </a:rPr>
                        <a:t>Ozuberk &amp; Cinar, 2026</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Image-based</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CNN &amp; ML on QR images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Grayscale histogram, LBP, GLCM</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DenseNet121, LightGBM, RF</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Mendeley Data (1000 images)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Need for URL-independent threat detection combined with explainable AI.</a:t>
                      </a:r>
                      <a:endParaRPr lang="en-IN" sz="1200" b="0" i="0" u="none" strike="noStrike">
                        <a:solidFill>
                          <a:srgbClr val="1F1F1F"/>
                        </a:solidFill>
                        <a:effectLst/>
                        <a:latin typeface="Proxima Nova" panose="020B0604020202020204" charset="0"/>
                      </a:endParaRPr>
                    </a:p>
                  </a:txBody>
                  <a:tcPr marL="27657" marR="2305" marT="2305" marB="0" anchor="ctr"/>
                </a:tc>
                <a:extLst>
                  <a:ext uri="{0D108BD9-81ED-4DB2-BD59-A6C34878D82A}">
                    <a16:rowId xmlns:a16="http://schemas.microsoft.com/office/drawing/2014/main" val="2711505305"/>
                  </a:ext>
                </a:extLst>
              </a:tr>
              <a:tr h="919508">
                <a:tc>
                  <a:txBody>
                    <a:bodyPr/>
                    <a:lstStyle/>
                    <a:p>
                      <a:pPr algn="ctr" rtl="0" fontAlgn="ctr">
                        <a:buNone/>
                      </a:pPr>
                      <a:r>
                        <a:rPr lang="en-US" sz="1200" b="1" i="0" u="none" strike="noStrike" dirty="0">
                          <a:solidFill>
                            <a:srgbClr val="1F1F1F"/>
                          </a:solidFill>
                          <a:effectLst/>
                          <a:latin typeface="Proxima Nova" panose="020B0604020202020204" charset="0"/>
                        </a:rPr>
                        <a:t>[5</a:t>
                      </a:r>
                      <a:r>
                        <a:rPr lang="en-IN" sz="1200" b="1" i="0" u="none" strike="noStrike" dirty="0">
                          <a:solidFill>
                            <a:srgbClr val="1F1F1F"/>
                          </a:solidFill>
                          <a:effectLst/>
                          <a:latin typeface="Proxima Nova" panose="020B0604020202020204" charset="0"/>
                        </a:rPr>
                        <a:t>]</a:t>
                      </a:r>
                    </a:p>
                  </a:txBody>
                  <a:tcPr marL="27657" marR="2305" marT="2305" marB="0" anchor="ctr"/>
                </a:tc>
                <a:tc>
                  <a:txBody>
                    <a:bodyPr/>
                    <a:lstStyle/>
                    <a:p>
                      <a:pPr algn="l" rtl="0" fontAlgn="ctr">
                        <a:buNone/>
                      </a:pPr>
                      <a:r>
                        <a:rPr lang="en-IN" sz="1200" u="none" strike="noStrike" dirty="0">
                          <a:effectLst/>
                          <a:latin typeface="Proxima Nova" panose="020B0604020202020204" charset="0"/>
                        </a:rPr>
                        <a:t>Trad &amp; Chehab, 2026</a:t>
                      </a:r>
                      <a:endParaRPr lang="en-IN" sz="1200" b="0" i="0" u="none" strike="noStrike" dirty="0">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Image-based (QR-centric)</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Structural &amp; pixel analysis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Raw QR code pixels</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XGBoost, LightGBM, RF, DT</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a:effectLst/>
                          <a:latin typeface="Proxima Nova" panose="020B0604020202020204" charset="0"/>
                        </a:rPr>
                        <a:t>Derived from PhishStorm</a:t>
                      </a:r>
                      <a:endParaRPr lang="en-IN" sz="1200" b="0" i="0" u="none" strike="noStrike">
                        <a:solidFill>
                          <a:srgbClr val="1F1F1F"/>
                        </a:solidFill>
                        <a:effectLst/>
                        <a:latin typeface="Proxima Nova" panose="020B0604020202020204" charset="0"/>
                      </a:endParaRPr>
                    </a:p>
                  </a:txBody>
                  <a:tcPr marL="27657" marR="2305" marT="2305" marB="0" anchor="ctr"/>
                </a:tc>
                <a:tc>
                  <a:txBody>
                    <a:bodyPr/>
                    <a:lstStyle/>
                    <a:p>
                      <a:pPr algn="l" rtl="0" fontAlgn="ctr">
                        <a:buNone/>
                      </a:pPr>
                      <a:r>
                        <a:rPr lang="en-IN" sz="1200" u="none" strike="noStrike" dirty="0">
                          <a:effectLst/>
                          <a:latin typeface="Proxima Nova" panose="020B0604020202020204" charset="0"/>
                        </a:rPr>
                        <a:t>URL extraction inherently exposes users to potential malicious payloads.</a:t>
                      </a:r>
                      <a:endParaRPr lang="en-IN" sz="1200" b="0" i="0" u="none" strike="noStrike" dirty="0">
                        <a:solidFill>
                          <a:srgbClr val="1F1F1F"/>
                        </a:solidFill>
                        <a:effectLst/>
                        <a:latin typeface="Proxima Nova" panose="020B0604020202020204" charset="0"/>
                      </a:endParaRPr>
                    </a:p>
                  </a:txBody>
                  <a:tcPr marL="27657" marR="2305" marT="2305" marB="0" anchor="ctr"/>
                </a:tc>
                <a:extLst>
                  <a:ext uri="{0D108BD9-81ED-4DB2-BD59-A6C34878D82A}">
                    <a16:rowId xmlns:a16="http://schemas.microsoft.com/office/drawing/2014/main" val="256438124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a:extLst>
            <a:ext uri="{FF2B5EF4-FFF2-40B4-BE49-F238E27FC236}">
              <a16:creationId xmlns:a16="http://schemas.microsoft.com/office/drawing/2014/main" id="{8225D7DF-4437-4828-52E4-64685F705351}"/>
            </a:ext>
          </a:extLst>
        </p:cNvPr>
        <p:cNvGrpSpPr/>
        <p:nvPr/>
      </p:nvGrpSpPr>
      <p:grpSpPr>
        <a:xfrm>
          <a:off x="0" y="0"/>
          <a:ext cx="0" cy="0"/>
          <a:chOff x="0" y="0"/>
          <a:chExt cx="0" cy="0"/>
        </a:xfrm>
      </p:grpSpPr>
      <p:sp>
        <p:nvSpPr>
          <p:cNvPr id="136" name="Google Shape;136;g3c4b2ca8496_0_9">
            <a:extLst>
              <a:ext uri="{FF2B5EF4-FFF2-40B4-BE49-F238E27FC236}">
                <a16:creationId xmlns:a16="http://schemas.microsoft.com/office/drawing/2014/main" id="{C9044F25-1D65-4354-16F8-A219DBE3586B}"/>
              </a:ext>
            </a:extLst>
          </p:cNvPr>
          <p:cNvSpPr txBox="1">
            <a:spLocks noGrp="1"/>
          </p:cNvSpPr>
          <p:nvPr>
            <p:ph type="title"/>
          </p:nvPr>
        </p:nvSpPr>
        <p:spPr>
          <a:xfrm>
            <a:off x="534246" y="309550"/>
            <a:ext cx="3433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AF1FB5AB-8D6E-4218-99D7-4FC0C6AE2DE8}"/>
              </a:ext>
            </a:extLst>
          </p:cNvPr>
          <p:cNvGraphicFramePr>
            <a:graphicFrameLocks noGrp="1"/>
          </p:cNvGraphicFramePr>
          <p:nvPr>
            <p:extLst>
              <p:ext uri="{D42A27DB-BD31-4B8C-83A1-F6EECF244321}">
                <p14:modId xmlns:p14="http://schemas.microsoft.com/office/powerpoint/2010/main" val="1038920530"/>
              </p:ext>
            </p:extLst>
          </p:nvPr>
        </p:nvGraphicFramePr>
        <p:xfrm>
          <a:off x="534246" y="1193801"/>
          <a:ext cx="10895754" cy="5096931"/>
        </p:xfrm>
        <a:graphic>
          <a:graphicData uri="http://schemas.openxmlformats.org/drawingml/2006/table">
            <a:tbl>
              <a:tblPr>
                <a:tableStyleId>{CA4FEF56-FCC3-4894-9D36-9FA669C9C288}</a:tableStyleId>
              </a:tblPr>
              <a:tblGrid>
                <a:gridCol w="371415">
                  <a:extLst>
                    <a:ext uri="{9D8B030D-6E8A-4147-A177-3AD203B41FA5}">
                      <a16:colId xmlns:a16="http://schemas.microsoft.com/office/drawing/2014/main" val="3662520114"/>
                    </a:ext>
                  </a:extLst>
                </a:gridCol>
                <a:gridCol w="1933757">
                  <a:extLst>
                    <a:ext uri="{9D8B030D-6E8A-4147-A177-3AD203B41FA5}">
                      <a16:colId xmlns:a16="http://schemas.microsoft.com/office/drawing/2014/main" val="2807159209"/>
                    </a:ext>
                  </a:extLst>
                </a:gridCol>
                <a:gridCol w="1576012">
                  <a:extLst>
                    <a:ext uri="{9D8B030D-6E8A-4147-A177-3AD203B41FA5}">
                      <a16:colId xmlns:a16="http://schemas.microsoft.com/office/drawing/2014/main" val="3236377373"/>
                    </a:ext>
                  </a:extLst>
                </a:gridCol>
                <a:gridCol w="1576012">
                  <a:extLst>
                    <a:ext uri="{9D8B030D-6E8A-4147-A177-3AD203B41FA5}">
                      <a16:colId xmlns:a16="http://schemas.microsoft.com/office/drawing/2014/main" val="3003284057"/>
                    </a:ext>
                  </a:extLst>
                </a:gridCol>
                <a:gridCol w="1290649">
                  <a:extLst>
                    <a:ext uri="{9D8B030D-6E8A-4147-A177-3AD203B41FA5}">
                      <a16:colId xmlns:a16="http://schemas.microsoft.com/office/drawing/2014/main" val="2702982347"/>
                    </a:ext>
                  </a:extLst>
                </a:gridCol>
                <a:gridCol w="1160254">
                  <a:extLst>
                    <a:ext uri="{9D8B030D-6E8A-4147-A177-3AD203B41FA5}">
                      <a16:colId xmlns:a16="http://schemas.microsoft.com/office/drawing/2014/main" val="1098162198"/>
                    </a:ext>
                  </a:extLst>
                </a:gridCol>
                <a:gridCol w="1053898">
                  <a:extLst>
                    <a:ext uri="{9D8B030D-6E8A-4147-A177-3AD203B41FA5}">
                      <a16:colId xmlns:a16="http://schemas.microsoft.com/office/drawing/2014/main" val="433211570"/>
                    </a:ext>
                  </a:extLst>
                </a:gridCol>
                <a:gridCol w="1933757">
                  <a:extLst>
                    <a:ext uri="{9D8B030D-6E8A-4147-A177-3AD203B41FA5}">
                      <a16:colId xmlns:a16="http://schemas.microsoft.com/office/drawing/2014/main" val="2220000499"/>
                    </a:ext>
                  </a:extLst>
                </a:gridCol>
              </a:tblGrid>
              <a:tr h="499391">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cs typeface="Arial"/>
                          <a:sym typeface="Arial"/>
                        </a:rPr>
                        <a:t>Ref</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Author &amp; Year</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Detection Technique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QR Code Analysis Method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Features Used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AI/ML Model</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Dataset Source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Research Gap</a:t>
                      </a:r>
                    </a:p>
                  </a:txBody>
                  <a:tcPr marL="27657" marR="2305" marT="2305" marB="0" anchor="ctr">
                    <a:solidFill>
                      <a:schemeClr val="tx2"/>
                    </a:solidFill>
                  </a:tcPr>
                </a:tc>
                <a:extLst>
                  <a:ext uri="{0D108BD9-81ED-4DB2-BD59-A6C34878D82A}">
                    <a16:rowId xmlns:a16="http://schemas.microsoft.com/office/drawing/2014/main" val="398435645"/>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[6</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Akram et al., 2026</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Structural feature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Binary grid recovery</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Finder, alignment, separators, timing</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Pre-trained classification model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Custom synthetic dataset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Existing visual/URL methods fail on QR codes.</a:t>
                      </a:r>
                    </a:p>
                  </a:txBody>
                  <a:tcPr marR="7620" marT="7620" marB="0" anchor="ctr"/>
                </a:tc>
                <a:extLst>
                  <a:ext uri="{0D108BD9-81ED-4DB2-BD59-A6C34878D82A}">
                    <a16:rowId xmlns:a16="http://schemas.microsoft.com/office/drawing/2014/main" val="203267384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[7</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Akram et al., 2025</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Structural feature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Protocol-level &amp; statistical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Version, ECC, module count, density</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Random Forest, XGBoost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Custom Feat-DataSet-1 &amp; 2</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Deep learning models act as black boxes lacking interpretability and transparency.</a:t>
                      </a:r>
                    </a:p>
                  </a:txBody>
                  <a:tcPr marR="7620" marT="7620" marB="0" anchor="ctr"/>
                </a:tc>
                <a:extLst>
                  <a:ext uri="{0D108BD9-81ED-4DB2-BD59-A6C34878D82A}">
                    <a16:rowId xmlns:a16="http://schemas.microsoft.com/office/drawing/2014/main" val="2632312848"/>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[8</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Ahmed et al., 2025</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Systematic review of URL-based, image-based</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lexical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data tokens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Pre-trained classification model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Dataset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Disjointed paradigms; lack of scalable, user-friendly real-world security solutions.</a:t>
                      </a:r>
                    </a:p>
                  </a:txBody>
                  <a:tcPr marR="7620" marT="7620" marB="0" anchor="ctr"/>
                </a:tc>
                <a:extLst>
                  <a:ext uri="{0D108BD9-81ED-4DB2-BD59-A6C34878D82A}">
                    <a16:rowId xmlns:a16="http://schemas.microsoft.com/office/drawing/2014/main" val="87596471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[9</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Nigam &amp; Bhandari, 2025</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Based Analysis</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Lexical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Cryptographic methods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XGBoost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Kaggle</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Need for robust systems combining human awareness</a:t>
                      </a:r>
                    </a:p>
                  </a:txBody>
                  <a:tcPr marR="7620" marT="7620" marB="0" anchor="ctr"/>
                </a:tc>
                <a:extLst>
                  <a:ext uri="{0D108BD9-81ED-4DB2-BD59-A6C34878D82A}">
                    <a16:rowId xmlns:a16="http://schemas.microsoft.com/office/drawing/2014/main" val="2711505305"/>
                  </a:ext>
                </a:extLst>
              </a:tr>
              <a:tr h="919508">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200" b="1" i="0" u="none" strike="noStrike" dirty="0">
                          <a:solidFill>
                            <a:srgbClr val="1F1F1F"/>
                          </a:solidFill>
                          <a:effectLst/>
                          <a:latin typeface="Proxima Nova" panose="020B0604020202020204" charset="0"/>
                        </a:rPr>
                        <a:t>[10</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Bhumika K S et al., 2025</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Hybrid (ML + Heuristic)</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Decoded text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TF-IDF, URL length, suspicious keywords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XGBoost + Heuristic Engine</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Not Reported</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Consumer apps decode QR contents without verifying URL properties</a:t>
                      </a:r>
                    </a:p>
                  </a:txBody>
                  <a:tcPr marR="7620" marT="7620" marB="0" anchor="ctr"/>
                </a:tc>
                <a:extLst>
                  <a:ext uri="{0D108BD9-81ED-4DB2-BD59-A6C34878D82A}">
                    <a16:rowId xmlns:a16="http://schemas.microsoft.com/office/drawing/2014/main" val="2564381248"/>
                  </a:ext>
                </a:extLst>
              </a:tr>
            </a:tbl>
          </a:graphicData>
        </a:graphic>
      </p:graphicFrame>
    </p:spTree>
    <p:extLst>
      <p:ext uri="{BB962C8B-B14F-4D97-AF65-F5344CB8AC3E}">
        <p14:creationId xmlns:p14="http://schemas.microsoft.com/office/powerpoint/2010/main" val="2872098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a:extLst>
            <a:ext uri="{FF2B5EF4-FFF2-40B4-BE49-F238E27FC236}">
              <a16:creationId xmlns:a16="http://schemas.microsoft.com/office/drawing/2014/main" id="{5365F2DF-D250-F950-FBF6-F3F49430CAA1}"/>
            </a:ext>
          </a:extLst>
        </p:cNvPr>
        <p:cNvGrpSpPr/>
        <p:nvPr/>
      </p:nvGrpSpPr>
      <p:grpSpPr>
        <a:xfrm>
          <a:off x="0" y="0"/>
          <a:ext cx="0" cy="0"/>
          <a:chOff x="0" y="0"/>
          <a:chExt cx="0" cy="0"/>
        </a:xfrm>
      </p:grpSpPr>
      <p:sp>
        <p:nvSpPr>
          <p:cNvPr id="136" name="Google Shape;136;g3c4b2ca8496_0_9">
            <a:extLst>
              <a:ext uri="{FF2B5EF4-FFF2-40B4-BE49-F238E27FC236}">
                <a16:creationId xmlns:a16="http://schemas.microsoft.com/office/drawing/2014/main" id="{8C7595CB-51EF-2E50-9704-5A88C8663052}"/>
              </a:ext>
            </a:extLst>
          </p:cNvPr>
          <p:cNvSpPr txBox="1">
            <a:spLocks noGrp="1"/>
          </p:cNvSpPr>
          <p:nvPr>
            <p:ph type="title"/>
          </p:nvPr>
        </p:nvSpPr>
        <p:spPr>
          <a:xfrm>
            <a:off x="534246" y="309550"/>
            <a:ext cx="3433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602C7043-66F0-2651-7CEA-7C5241BFF893}"/>
              </a:ext>
            </a:extLst>
          </p:cNvPr>
          <p:cNvGraphicFramePr>
            <a:graphicFrameLocks noGrp="1"/>
          </p:cNvGraphicFramePr>
          <p:nvPr>
            <p:extLst>
              <p:ext uri="{D42A27DB-BD31-4B8C-83A1-F6EECF244321}">
                <p14:modId xmlns:p14="http://schemas.microsoft.com/office/powerpoint/2010/main" val="2145788240"/>
              </p:ext>
            </p:extLst>
          </p:nvPr>
        </p:nvGraphicFramePr>
        <p:xfrm>
          <a:off x="534246" y="1193801"/>
          <a:ext cx="10895754" cy="5096931"/>
        </p:xfrm>
        <a:graphic>
          <a:graphicData uri="http://schemas.openxmlformats.org/drawingml/2006/table">
            <a:tbl>
              <a:tblPr>
                <a:tableStyleId>{CA4FEF56-FCC3-4894-9D36-9FA669C9C288}</a:tableStyleId>
              </a:tblPr>
              <a:tblGrid>
                <a:gridCol w="371415">
                  <a:extLst>
                    <a:ext uri="{9D8B030D-6E8A-4147-A177-3AD203B41FA5}">
                      <a16:colId xmlns:a16="http://schemas.microsoft.com/office/drawing/2014/main" val="3662520114"/>
                    </a:ext>
                  </a:extLst>
                </a:gridCol>
                <a:gridCol w="1933757">
                  <a:extLst>
                    <a:ext uri="{9D8B030D-6E8A-4147-A177-3AD203B41FA5}">
                      <a16:colId xmlns:a16="http://schemas.microsoft.com/office/drawing/2014/main" val="2807159209"/>
                    </a:ext>
                  </a:extLst>
                </a:gridCol>
                <a:gridCol w="1576012">
                  <a:extLst>
                    <a:ext uri="{9D8B030D-6E8A-4147-A177-3AD203B41FA5}">
                      <a16:colId xmlns:a16="http://schemas.microsoft.com/office/drawing/2014/main" val="3236377373"/>
                    </a:ext>
                  </a:extLst>
                </a:gridCol>
                <a:gridCol w="1576012">
                  <a:extLst>
                    <a:ext uri="{9D8B030D-6E8A-4147-A177-3AD203B41FA5}">
                      <a16:colId xmlns:a16="http://schemas.microsoft.com/office/drawing/2014/main" val="3003284057"/>
                    </a:ext>
                  </a:extLst>
                </a:gridCol>
                <a:gridCol w="1290649">
                  <a:extLst>
                    <a:ext uri="{9D8B030D-6E8A-4147-A177-3AD203B41FA5}">
                      <a16:colId xmlns:a16="http://schemas.microsoft.com/office/drawing/2014/main" val="2702982347"/>
                    </a:ext>
                  </a:extLst>
                </a:gridCol>
                <a:gridCol w="1160254">
                  <a:extLst>
                    <a:ext uri="{9D8B030D-6E8A-4147-A177-3AD203B41FA5}">
                      <a16:colId xmlns:a16="http://schemas.microsoft.com/office/drawing/2014/main" val="1098162198"/>
                    </a:ext>
                  </a:extLst>
                </a:gridCol>
                <a:gridCol w="1053898">
                  <a:extLst>
                    <a:ext uri="{9D8B030D-6E8A-4147-A177-3AD203B41FA5}">
                      <a16:colId xmlns:a16="http://schemas.microsoft.com/office/drawing/2014/main" val="433211570"/>
                    </a:ext>
                  </a:extLst>
                </a:gridCol>
                <a:gridCol w="1933757">
                  <a:extLst>
                    <a:ext uri="{9D8B030D-6E8A-4147-A177-3AD203B41FA5}">
                      <a16:colId xmlns:a16="http://schemas.microsoft.com/office/drawing/2014/main" val="2220000499"/>
                    </a:ext>
                  </a:extLst>
                </a:gridCol>
              </a:tblGrid>
              <a:tr h="499391">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cs typeface="Arial"/>
                          <a:sym typeface="Arial"/>
                        </a:rPr>
                        <a:t>Ref</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Author &amp; Year</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Detection Technique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QR Code Analysis Method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Features Used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AI/ML Model</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Dataset Source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Research Gap</a:t>
                      </a:r>
                    </a:p>
                  </a:txBody>
                  <a:tcPr marL="27657" marR="2305" marT="2305" marB="0" anchor="ctr">
                    <a:solidFill>
                      <a:schemeClr val="tx2"/>
                    </a:solidFill>
                  </a:tcPr>
                </a:tc>
                <a:extLst>
                  <a:ext uri="{0D108BD9-81ED-4DB2-BD59-A6C34878D82A}">
                    <a16:rowId xmlns:a16="http://schemas.microsoft.com/office/drawing/2014/main" val="398435645"/>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[11</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Osari et al., 2025</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Machine Learning URL detection</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URL extraction &amp; analysis</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URL length, subdomains, HTTPS, suspicious terms</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Gradient Boosting, Neural Networks</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Labeled dataset of genuine/malicious URLs</a:t>
                      </a:r>
                    </a:p>
                  </a:txBody>
                  <a:tcPr marR="7620" marT="7620" marB="0" anchor="ctr"/>
                </a:tc>
                <a:tc>
                  <a:txBody>
                    <a:bodyPr/>
                    <a:lstStyle/>
                    <a:p>
                      <a:pPr algn="l" fontAlgn="ctr">
                        <a:buNone/>
                      </a:pPr>
                      <a:r>
                        <a:rPr lang="en-IN" sz="1200" b="0" i="0" u="none" strike="noStrike">
                          <a:solidFill>
                            <a:srgbClr val="000000"/>
                          </a:solidFill>
                          <a:effectLst/>
                          <a:latin typeface="Proxima Nova" panose="020B0604020202020204" charset="0"/>
                        </a:rPr>
                        <a:t>Existing mitigation strategies ignore human behavioral elements and user awareness.</a:t>
                      </a:r>
                    </a:p>
                  </a:txBody>
                  <a:tcPr marR="7620" marT="7620" marB="0" anchor="ctr"/>
                </a:tc>
                <a:extLst>
                  <a:ext uri="{0D108BD9-81ED-4DB2-BD59-A6C34878D82A}">
                    <a16:rowId xmlns:a16="http://schemas.microsoft.com/office/drawing/2014/main" val="203267384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[12</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dirty="0" err="1">
                          <a:solidFill>
                            <a:srgbClr val="1F1F1F"/>
                          </a:solidFill>
                          <a:effectLst/>
                          <a:latin typeface="Proxima Nova" panose="020B0604020202020204" charset="0"/>
                        </a:rPr>
                        <a:t>Sarkhi</a:t>
                      </a:r>
                      <a:r>
                        <a:rPr lang="en-IN" sz="1200" b="0" i="0" u="none" strike="noStrike" dirty="0">
                          <a:solidFill>
                            <a:srgbClr val="1F1F1F"/>
                          </a:solidFill>
                          <a:effectLst/>
                          <a:latin typeface="Proxima Nova" panose="020B0604020202020204" charset="0"/>
                        </a:rPr>
                        <a:t> &amp; Mishra,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ML Classification</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Image classification</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Visual image patterns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Lightweight DL Model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651,xxx samples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Low recall specifically for malware classification.</a:t>
                      </a:r>
                    </a:p>
                  </a:txBody>
                  <a:tcPr marR="7620" marT="7620" marB="0" anchor="ctr"/>
                </a:tc>
                <a:extLst>
                  <a:ext uri="{0D108BD9-81ED-4DB2-BD59-A6C34878D82A}">
                    <a16:rowId xmlns:a16="http://schemas.microsoft.com/office/drawing/2014/main" val="2632312848"/>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[13</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Vaithilingam &amp; Shankar,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NLP &amp; Image Processing</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Text/Semantic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Textual and semantic features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NLP AI</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Small datasets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High computational overhead on mobile devices.</a:t>
                      </a:r>
                    </a:p>
                  </a:txBody>
                  <a:tcPr marR="7620" marT="7620" marB="0" anchor="ctr"/>
                </a:tc>
                <a:extLst>
                  <a:ext uri="{0D108BD9-81ED-4DB2-BD59-A6C34878D82A}">
                    <a16:rowId xmlns:a16="http://schemas.microsoft.com/office/drawing/2014/main" val="87596471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[14</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Sharevski et al.,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Naturalistic user study</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Lexical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data tokens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RF,DT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n=42 participants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Small sample size limits behavioral generalizability.</a:t>
                      </a:r>
                    </a:p>
                  </a:txBody>
                  <a:tcPr marR="7620" marT="7620" marB="0" anchor="ctr"/>
                </a:tc>
                <a:extLst>
                  <a:ext uri="{0D108BD9-81ED-4DB2-BD59-A6C34878D82A}">
                    <a16:rowId xmlns:a16="http://schemas.microsoft.com/office/drawing/2014/main" val="2711505305"/>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[15</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Ford &amp; Berry,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Image Recognition</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Embedded email image detection</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Pixel/image data</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CNNs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200,000 images</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High computational demand for high-throughput environments.</a:t>
                      </a:r>
                    </a:p>
                  </a:txBody>
                  <a:tcPr marR="7620" marT="7620" marB="0" anchor="ctr"/>
                </a:tc>
                <a:extLst>
                  <a:ext uri="{0D108BD9-81ED-4DB2-BD59-A6C34878D82A}">
                    <a16:rowId xmlns:a16="http://schemas.microsoft.com/office/drawing/2014/main" val="2564381248"/>
                  </a:ext>
                </a:extLst>
              </a:tr>
            </a:tbl>
          </a:graphicData>
        </a:graphic>
      </p:graphicFrame>
    </p:spTree>
    <p:extLst>
      <p:ext uri="{BB962C8B-B14F-4D97-AF65-F5344CB8AC3E}">
        <p14:creationId xmlns:p14="http://schemas.microsoft.com/office/powerpoint/2010/main" val="2532380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a:extLst>
            <a:ext uri="{FF2B5EF4-FFF2-40B4-BE49-F238E27FC236}">
              <a16:creationId xmlns:a16="http://schemas.microsoft.com/office/drawing/2014/main" id="{AD0F606A-2A91-CE7A-EE62-F5DF020C3722}"/>
            </a:ext>
          </a:extLst>
        </p:cNvPr>
        <p:cNvGrpSpPr/>
        <p:nvPr/>
      </p:nvGrpSpPr>
      <p:grpSpPr>
        <a:xfrm>
          <a:off x="0" y="0"/>
          <a:ext cx="0" cy="0"/>
          <a:chOff x="0" y="0"/>
          <a:chExt cx="0" cy="0"/>
        </a:xfrm>
      </p:grpSpPr>
      <p:sp>
        <p:nvSpPr>
          <p:cNvPr id="136" name="Google Shape;136;g3c4b2ca8496_0_9">
            <a:extLst>
              <a:ext uri="{FF2B5EF4-FFF2-40B4-BE49-F238E27FC236}">
                <a16:creationId xmlns:a16="http://schemas.microsoft.com/office/drawing/2014/main" id="{09B2A578-958A-CF6F-2E1C-E9BA7B4070A3}"/>
              </a:ext>
            </a:extLst>
          </p:cNvPr>
          <p:cNvSpPr txBox="1">
            <a:spLocks noGrp="1"/>
          </p:cNvSpPr>
          <p:nvPr>
            <p:ph type="title"/>
          </p:nvPr>
        </p:nvSpPr>
        <p:spPr>
          <a:xfrm>
            <a:off x="534246" y="309550"/>
            <a:ext cx="34335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Literature Review</a:t>
            </a:r>
            <a:endParaRPr sz="2400" b="1">
              <a:solidFill>
                <a:srgbClr val="04A2B9"/>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271E1EA5-B078-8FBE-8C3B-45D56276CC11}"/>
              </a:ext>
            </a:extLst>
          </p:cNvPr>
          <p:cNvGraphicFramePr>
            <a:graphicFrameLocks noGrp="1"/>
          </p:cNvGraphicFramePr>
          <p:nvPr>
            <p:extLst>
              <p:ext uri="{D42A27DB-BD31-4B8C-83A1-F6EECF244321}">
                <p14:modId xmlns:p14="http://schemas.microsoft.com/office/powerpoint/2010/main" val="3058510505"/>
              </p:ext>
            </p:extLst>
          </p:nvPr>
        </p:nvGraphicFramePr>
        <p:xfrm>
          <a:off x="534246" y="1193801"/>
          <a:ext cx="10936137" cy="5096931"/>
        </p:xfrm>
        <a:graphic>
          <a:graphicData uri="http://schemas.openxmlformats.org/drawingml/2006/table">
            <a:tbl>
              <a:tblPr>
                <a:tableStyleId>{CA4FEF56-FCC3-4894-9D36-9FA669C9C288}</a:tableStyleId>
              </a:tblPr>
              <a:tblGrid>
                <a:gridCol w="411798">
                  <a:extLst>
                    <a:ext uri="{9D8B030D-6E8A-4147-A177-3AD203B41FA5}">
                      <a16:colId xmlns:a16="http://schemas.microsoft.com/office/drawing/2014/main" val="3662520114"/>
                    </a:ext>
                  </a:extLst>
                </a:gridCol>
                <a:gridCol w="1933757">
                  <a:extLst>
                    <a:ext uri="{9D8B030D-6E8A-4147-A177-3AD203B41FA5}">
                      <a16:colId xmlns:a16="http://schemas.microsoft.com/office/drawing/2014/main" val="2807159209"/>
                    </a:ext>
                  </a:extLst>
                </a:gridCol>
                <a:gridCol w="1576012">
                  <a:extLst>
                    <a:ext uri="{9D8B030D-6E8A-4147-A177-3AD203B41FA5}">
                      <a16:colId xmlns:a16="http://schemas.microsoft.com/office/drawing/2014/main" val="3236377373"/>
                    </a:ext>
                  </a:extLst>
                </a:gridCol>
                <a:gridCol w="1576012">
                  <a:extLst>
                    <a:ext uri="{9D8B030D-6E8A-4147-A177-3AD203B41FA5}">
                      <a16:colId xmlns:a16="http://schemas.microsoft.com/office/drawing/2014/main" val="3003284057"/>
                    </a:ext>
                  </a:extLst>
                </a:gridCol>
                <a:gridCol w="1290649">
                  <a:extLst>
                    <a:ext uri="{9D8B030D-6E8A-4147-A177-3AD203B41FA5}">
                      <a16:colId xmlns:a16="http://schemas.microsoft.com/office/drawing/2014/main" val="2702982347"/>
                    </a:ext>
                  </a:extLst>
                </a:gridCol>
                <a:gridCol w="1160254">
                  <a:extLst>
                    <a:ext uri="{9D8B030D-6E8A-4147-A177-3AD203B41FA5}">
                      <a16:colId xmlns:a16="http://schemas.microsoft.com/office/drawing/2014/main" val="1098162198"/>
                    </a:ext>
                  </a:extLst>
                </a:gridCol>
                <a:gridCol w="1053898">
                  <a:extLst>
                    <a:ext uri="{9D8B030D-6E8A-4147-A177-3AD203B41FA5}">
                      <a16:colId xmlns:a16="http://schemas.microsoft.com/office/drawing/2014/main" val="433211570"/>
                    </a:ext>
                  </a:extLst>
                </a:gridCol>
                <a:gridCol w="1933757">
                  <a:extLst>
                    <a:ext uri="{9D8B030D-6E8A-4147-A177-3AD203B41FA5}">
                      <a16:colId xmlns:a16="http://schemas.microsoft.com/office/drawing/2014/main" val="2220000499"/>
                    </a:ext>
                  </a:extLst>
                </a:gridCol>
              </a:tblGrid>
              <a:tr h="499391">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cs typeface="Arial"/>
                          <a:sym typeface="Arial"/>
                        </a:rPr>
                        <a:t>Ref</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Author &amp; Year</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Detection Technique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QR Code Analysis Method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Features Used</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AI/ML Model</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a:solidFill>
                            <a:srgbClr val="000000"/>
                          </a:solidFill>
                          <a:latin typeface="Proxima Nova" panose="020B0604020202020204" charset="0"/>
                          <a:sym typeface="Arial"/>
                        </a:rPr>
                        <a:t>Dataset Source</a:t>
                      </a:r>
                    </a:p>
                  </a:txBody>
                  <a:tcPr marL="27657" marR="2305" marT="2305" marB="0" anchor="ctr">
                    <a:solidFill>
                      <a:schemeClr val="tx2"/>
                    </a:solidFill>
                  </a:tcPr>
                </a:tc>
                <a:tc>
                  <a:txBody>
                    <a:bodyPr/>
                    <a:lstStyle/>
                    <a:p>
                      <a:pPr marL="0" marR="0" lvl="0" indent="0" algn="ctr" rtl="0" fontAlgn="ctr">
                        <a:lnSpc>
                          <a:spcPct val="100000"/>
                        </a:lnSpc>
                        <a:spcBef>
                          <a:spcPts val="0"/>
                        </a:spcBef>
                        <a:spcAft>
                          <a:spcPts val="0"/>
                        </a:spcAft>
                        <a:buClr>
                          <a:srgbClr val="000000"/>
                        </a:buClr>
                        <a:buSzPts val="1300"/>
                        <a:buFont typeface="Arial"/>
                        <a:buNone/>
                      </a:pPr>
                      <a:r>
                        <a:rPr lang="en-IN" sz="1300" b="1" i="0" u="none" strike="noStrike" cap="none" dirty="0">
                          <a:solidFill>
                            <a:srgbClr val="000000"/>
                          </a:solidFill>
                          <a:latin typeface="Proxima Nova" panose="020B0604020202020204" charset="0"/>
                          <a:sym typeface="Arial"/>
                        </a:rPr>
                        <a:t>Research Gap</a:t>
                      </a:r>
                    </a:p>
                  </a:txBody>
                  <a:tcPr marL="27657" marR="2305" marT="2305" marB="0" anchor="ctr">
                    <a:solidFill>
                      <a:schemeClr val="tx2"/>
                    </a:solidFill>
                  </a:tcPr>
                </a:tc>
                <a:extLst>
                  <a:ext uri="{0D108BD9-81ED-4DB2-BD59-A6C34878D82A}">
                    <a16:rowId xmlns:a16="http://schemas.microsoft.com/office/drawing/2014/main" val="398435645"/>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[16</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Bhagwani et al.,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API Threat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Real-time URL scanning</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reputation/blacklist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API-based</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API-based real-time data</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Reliance on external APIs causes latency.</a:t>
                      </a:r>
                    </a:p>
                  </a:txBody>
                  <a:tcPr marR="7620" marT="7620" marB="0" anchor="ctr"/>
                </a:tc>
                <a:extLst>
                  <a:ext uri="{0D108BD9-81ED-4DB2-BD59-A6C34878D82A}">
                    <a16:rowId xmlns:a16="http://schemas.microsoft.com/office/drawing/2014/main" val="203267384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[17</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Galadima et al., 2024</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Systematic Review</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Decoded Text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Raw QR code pixels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Pre-trained classiffication Model</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Review paper</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Lacks empirical testing and novel technical frameworks.</a:t>
                      </a:r>
                    </a:p>
                  </a:txBody>
                  <a:tcPr marR="7620" marT="7620" marB="0" anchor="ctr"/>
                </a:tc>
                <a:extLst>
                  <a:ext uri="{0D108BD9-81ED-4DB2-BD59-A6C34878D82A}">
                    <a16:rowId xmlns:a16="http://schemas.microsoft.com/office/drawing/2014/main" val="2632312848"/>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[18</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Ahmer Khalique Khan, 2023</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Heuristic techniques (lexical and host-based)</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extraction to Phish-Score algorithm</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19 lexical and host-based features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Heuristic algorithm</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Curated list of mixed URLs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Existing apps lack user choice and compromise privacy.</a:t>
                      </a:r>
                    </a:p>
                  </a:txBody>
                  <a:tcPr marR="7620" marT="7620" marB="0" anchor="ctr"/>
                </a:tc>
                <a:extLst>
                  <a:ext uri="{0D108BD9-81ED-4DB2-BD59-A6C34878D82A}">
                    <a16:rowId xmlns:a16="http://schemas.microsoft.com/office/drawing/2014/main" val="875964710"/>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[19</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Dhanraj S. et al., 2023</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Machine learning and deep learning</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FIND FROM URLS </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URL structure, IP addresses, regular expressions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DCNN, RNN, LSTM, ResNet50</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CSV files of URL records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Traditional blacklists fail against zero-day malicious URLs.</a:t>
                      </a:r>
                    </a:p>
                  </a:txBody>
                  <a:tcPr marR="7620" marT="7620" marB="0" anchor="ctr"/>
                </a:tc>
                <a:extLst>
                  <a:ext uri="{0D108BD9-81ED-4DB2-BD59-A6C34878D82A}">
                    <a16:rowId xmlns:a16="http://schemas.microsoft.com/office/drawing/2014/main" val="2711505305"/>
                  </a:ext>
                </a:extLst>
              </a:tr>
              <a:tr h="919508">
                <a:tc>
                  <a:txBody>
                    <a:bodyPr/>
                    <a:lstStyle/>
                    <a:p>
                      <a:pPr algn="l" rtl="0" fontAlgn="ctr">
                        <a:buNone/>
                      </a:pPr>
                      <a:r>
                        <a:rPr lang="en-US" sz="1200" b="1" i="0" u="none" strike="noStrike" dirty="0">
                          <a:solidFill>
                            <a:srgbClr val="1F1F1F"/>
                          </a:solidFill>
                          <a:effectLst/>
                          <a:latin typeface="Proxima Nova" panose="020B0604020202020204" charset="0"/>
                        </a:rPr>
                        <a:t>[20</a:t>
                      </a:r>
                      <a:r>
                        <a:rPr lang="en-IN" sz="1200" b="1" i="0" u="none" strike="noStrike" dirty="0">
                          <a:solidFill>
                            <a:srgbClr val="1F1F1F"/>
                          </a:solidFill>
                          <a:effectLst/>
                          <a:latin typeface="Proxima Nova" panose="020B0604020202020204" charset="0"/>
                        </a:rPr>
                        <a:t>]</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Betty Herlina &amp; Haryono Soeparno, 2023</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Machine learning classification</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URL Lexical analysis</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17 features (URL length, IP, domain age, etc.)</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XGBoost, RF, DT, SVM, MLP, Autoencoder</a:t>
                      </a:r>
                    </a:p>
                  </a:txBody>
                  <a:tcPr marR="7620" marT="7620" marB="0" anchor="ctr"/>
                </a:tc>
                <a:tc>
                  <a:txBody>
                    <a:bodyPr/>
                    <a:lstStyle/>
                    <a:p>
                      <a:pPr algn="l" rtl="0" fontAlgn="ctr">
                        <a:buNone/>
                      </a:pPr>
                      <a:r>
                        <a:rPr lang="en-IN" sz="1200" b="0" i="0" u="none" strike="noStrike">
                          <a:solidFill>
                            <a:srgbClr val="1F1F1F"/>
                          </a:solidFill>
                          <a:effectLst/>
                          <a:latin typeface="Proxima Nova" panose="020B0604020202020204" charset="0"/>
                        </a:rPr>
                        <a:t>Dynamic database via wget</a:t>
                      </a:r>
                    </a:p>
                  </a:txBody>
                  <a:tcPr marR="7620" marT="7620" marB="0" anchor="ctr"/>
                </a:tc>
                <a:tc>
                  <a:txBody>
                    <a:bodyPr/>
                    <a:lstStyle/>
                    <a:p>
                      <a:pPr algn="l" rtl="0" fontAlgn="ctr">
                        <a:buNone/>
                      </a:pPr>
                      <a:r>
                        <a:rPr lang="en-IN" sz="1200" b="0" i="0" u="none" strike="noStrike" dirty="0">
                          <a:solidFill>
                            <a:srgbClr val="1F1F1F"/>
                          </a:solidFill>
                          <a:effectLst/>
                          <a:latin typeface="Proxima Nova" panose="020B0604020202020204" charset="0"/>
                        </a:rPr>
                        <a:t>Human failure in QR phishing needs high-accuracy models.</a:t>
                      </a:r>
                    </a:p>
                  </a:txBody>
                  <a:tcPr marR="7620" marT="7620" marB="0" anchor="ctr"/>
                </a:tc>
                <a:extLst>
                  <a:ext uri="{0D108BD9-81ED-4DB2-BD59-A6C34878D82A}">
                    <a16:rowId xmlns:a16="http://schemas.microsoft.com/office/drawing/2014/main" val="2564381248"/>
                  </a:ext>
                </a:extLst>
              </a:tr>
            </a:tbl>
          </a:graphicData>
        </a:graphic>
      </p:graphicFrame>
    </p:spTree>
    <p:extLst>
      <p:ext uri="{BB962C8B-B14F-4D97-AF65-F5344CB8AC3E}">
        <p14:creationId xmlns:p14="http://schemas.microsoft.com/office/powerpoint/2010/main" val="1758494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p:cNvGrpSpPr/>
        <p:nvPr/>
      </p:nvGrpSpPr>
      <p:grpSpPr>
        <a:xfrm>
          <a:off x="0" y="0"/>
          <a:ext cx="0" cy="0"/>
          <a:chOff x="0" y="0"/>
          <a:chExt cx="0" cy="0"/>
        </a:xfrm>
      </p:grpSpPr>
      <p:sp>
        <p:nvSpPr>
          <p:cNvPr id="153" name="Google Shape;153;g3c4b2ca8496_0_24"/>
          <p:cNvSpPr txBox="1">
            <a:spLocks noGrp="1"/>
          </p:cNvSpPr>
          <p:nvPr>
            <p:ph type="title"/>
          </p:nvPr>
        </p:nvSpPr>
        <p:spPr>
          <a:xfrm>
            <a:off x="534259" y="309584"/>
            <a:ext cx="4537274"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Existing Models VS Our Models</a:t>
            </a:r>
            <a:endParaRPr sz="2400" b="1" dirty="0">
              <a:solidFill>
                <a:srgbClr val="04A2B9"/>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8B20CA6D-483F-E00A-2E94-F59D37F8F501}"/>
              </a:ext>
            </a:extLst>
          </p:cNvPr>
          <p:cNvGraphicFramePr>
            <a:graphicFrameLocks noGrp="1"/>
          </p:cNvGraphicFramePr>
          <p:nvPr>
            <p:extLst>
              <p:ext uri="{D42A27DB-BD31-4B8C-83A1-F6EECF244321}">
                <p14:modId xmlns:p14="http://schemas.microsoft.com/office/powerpoint/2010/main" val="1535907718"/>
              </p:ext>
            </p:extLst>
          </p:nvPr>
        </p:nvGraphicFramePr>
        <p:xfrm>
          <a:off x="2032000" y="1346200"/>
          <a:ext cx="8128000" cy="1854200"/>
        </p:xfrm>
        <a:graphic>
          <a:graphicData uri="http://schemas.openxmlformats.org/drawingml/2006/table">
            <a:tbl>
              <a:tblPr firstRow="1" bandRow="1">
                <a:tableStyleId>{CA4FEF56-FCC3-4894-9D36-9FA669C9C288}</a:tableStyleId>
              </a:tblPr>
              <a:tblGrid>
                <a:gridCol w="4064000">
                  <a:extLst>
                    <a:ext uri="{9D8B030D-6E8A-4147-A177-3AD203B41FA5}">
                      <a16:colId xmlns:a16="http://schemas.microsoft.com/office/drawing/2014/main" val="1012173477"/>
                    </a:ext>
                  </a:extLst>
                </a:gridCol>
                <a:gridCol w="4064000">
                  <a:extLst>
                    <a:ext uri="{9D8B030D-6E8A-4147-A177-3AD203B41FA5}">
                      <a16:colId xmlns:a16="http://schemas.microsoft.com/office/drawing/2014/main" val="3375642630"/>
                    </a:ext>
                  </a:extLst>
                </a:gridCol>
              </a:tblGrid>
              <a:tr h="370840">
                <a:tc>
                  <a:txBody>
                    <a:bodyPr/>
                    <a:lstStyle/>
                    <a:p>
                      <a:r>
                        <a:rPr lang="en-US" sz="1600" b="1" dirty="0">
                          <a:latin typeface="Proxima Nova" panose="020B0604020202020204" charset="0"/>
                        </a:rPr>
                        <a:t>Autor Name</a:t>
                      </a:r>
                      <a:endParaRPr lang="en-IN" sz="1600" b="1" dirty="0">
                        <a:latin typeface="Proxima Nova" panose="020B0604020202020204" charset="0"/>
                      </a:endParaRPr>
                    </a:p>
                  </a:txBody>
                  <a:tcPr/>
                </a:tc>
                <a:tc>
                  <a:txBody>
                    <a:bodyPr/>
                    <a:lstStyle/>
                    <a:p>
                      <a:r>
                        <a:rPr lang="en-US" sz="1600" b="1" dirty="0">
                          <a:latin typeface="Proxima Nova" panose="020B0604020202020204" charset="0"/>
                        </a:rPr>
                        <a:t>Accuracy</a:t>
                      </a:r>
                      <a:endParaRPr lang="en-IN" sz="1600" b="1" dirty="0">
                        <a:latin typeface="Proxima Nova" panose="020B0604020202020204" charset="0"/>
                      </a:endParaRPr>
                    </a:p>
                  </a:txBody>
                  <a:tcPr/>
                </a:tc>
                <a:extLst>
                  <a:ext uri="{0D108BD9-81ED-4DB2-BD59-A6C34878D82A}">
                    <a16:rowId xmlns:a16="http://schemas.microsoft.com/office/drawing/2014/main" val="463355801"/>
                  </a:ext>
                </a:extLst>
              </a:tr>
              <a:tr h="370840">
                <a:tc>
                  <a:txBody>
                    <a:bodyPr/>
                    <a:lstStyle/>
                    <a:p>
                      <a:pPr algn="l" rtl="0" fontAlgn="ctr">
                        <a:buNone/>
                      </a:pPr>
                      <a:r>
                        <a:rPr lang="en-IN" sz="1600" b="1" i="0" u="none" strike="noStrike" dirty="0">
                          <a:solidFill>
                            <a:srgbClr val="1F1F1F"/>
                          </a:solidFill>
                          <a:effectLst/>
                          <a:latin typeface="Proxima Nova" panose="020B0604020202020204" charset="0"/>
                        </a:rPr>
                        <a:t>[10]</a:t>
                      </a:r>
                      <a:r>
                        <a:rPr lang="en-IN" sz="1600" b="0" i="0" u="none" strike="noStrike" dirty="0">
                          <a:solidFill>
                            <a:srgbClr val="1F1F1F"/>
                          </a:solidFill>
                          <a:effectLst/>
                          <a:latin typeface="Proxima Nova" panose="020B0604020202020204" charset="0"/>
                        </a:rPr>
                        <a:t> Bhumika K S et al., 2025</a:t>
                      </a:r>
                    </a:p>
                  </a:txBody>
                  <a:tcPr/>
                </a:tc>
                <a:tc>
                  <a:txBody>
                    <a:bodyPr/>
                    <a:lstStyle/>
                    <a:p>
                      <a:r>
                        <a:rPr lang="en-US" sz="1600" dirty="0">
                          <a:latin typeface="Proxima Nova" panose="020B0604020202020204" charset="0"/>
                        </a:rPr>
                        <a:t>93.40%</a:t>
                      </a:r>
                      <a:endParaRPr lang="en-IN" sz="1600" dirty="0">
                        <a:latin typeface="Proxima Nova" panose="020B0604020202020204" charset="0"/>
                      </a:endParaRPr>
                    </a:p>
                  </a:txBody>
                  <a:tcPr/>
                </a:tc>
                <a:extLst>
                  <a:ext uri="{0D108BD9-81ED-4DB2-BD59-A6C34878D82A}">
                    <a16:rowId xmlns:a16="http://schemas.microsoft.com/office/drawing/2014/main" val="3431944683"/>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1" i="0" u="none" strike="noStrike" dirty="0">
                          <a:solidFill>
                            <a:srgbClr val="1F1F1F"/>
                          </a:solidFill>
                          <a:effectLst/>
                          <a:latin typeface="Proxima Nova" panose="020B0604020202020204" charset="0"/>
                        </a:rPr>
                        <a:t>[2] </a:t>
                      </a:r>
                      <a:r>
                        <a:rPr lang="en-IN" sz="1600" u="none" strike="noStrike" dirty="0">
                          <a:effectLst/>
                          <a:latin typeface="Proxima Nova" panose="020B0604020202020204" charset="0"/>
                        </a:rPr>
                        <a:t>Rafsanjani et al., 2026</a:t>
                      </a:r>
                      <a:endParaRPr lang="en-IN" sz="1600" b="0" i="0" u="none" strike="noStrike" dirty="0">
                        <a:solidFill>
                          <a:srgbClr val="1F1F1F"/>
                        </a:solidFill>
                        <a:effectLst/>
                        <a:latin typeface="Proxima Nova" panose="020B0604020202020204" charset="0"/>
                      </a:endParaRPr>
                    </a:p>
                  </a:txBody>
                  <a:tcPr/>
                </a:tc>
                <a:tc>
                  <a:txBody>
                    <a:bodyPr/>
                    <a:lstStyle/>
                    <a:p>
                      <a:r>
                        <a:rPr lang="en-US" sz="1600" dirty="0">
                          <a:latin typeface="Proxima Nova" panose="020B0604020202020204" charset="0"/>
                        </a:rPr>
                        <a:t>93.50%</a:t>
                      </a:r>
                      <a:endParaRPr lang="en-IN" sz="1600" dirty="0">
                        <a:latin typeface="Proxima Nova" panose="020B0604020202020204" charset="0"/>
                      </a:endParaRPr>
                    </a:p>
                  </a:txBody>
                  <a:tcPr/>
                </a:tc>
                <a:extLst>
                  <a:ext uri="{0D108BD9-81ED-4DB2-BD59-A6C34878D82A}">
                    <a16:rowId xmlns:a16="http://schemas.microsoft.com/office/drawing/2014/main" val="240512670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b="1" i="0" u="none" strike="noStrike" dirty="0">
                          <a:solidFill>
                            <a:srgbClr val="1F1F1F"/>
                          </a:solidFill>
                          <a:effectLst/>
                          <a:latin typeface="Proxima Nova" panose="020B0604020202020204" charset="0"/>
                        </a:rPr>
                        <a:t>[5] </a:t>
                      </a:r>
                      <a:r>
                        <a:rPr lang="en-IN" sz="1600" u="none" strike="noStrike" dirty="0">
                          <a:effectLst/>
                          <a:latin typeface="Proxima Nova" panose="020B0604020202020204" charset="0"/>
                        </a:rPr>
                        <a:t>Trad &amp; Chehab, 2026</a:t>
                      </a:r>
                      <a:endParaRPr lang="en-IN" sz="1600" b="0" i="0" u="none" strike="noStrike" dirty="0">
                        <a:solidFill>
                          <a:srgbClr val="1F1F1F"/>
                        </a:solidFill>
                        <a:effectLst/>
                        <a:latin typeface="Proxima Nova" panose="020B0604020202020204" charset="0"/>
                      </a:endParaRPr>
                    </a:p>
                  </a:txBody>
                  <a:tcPr/>
                </a:tc>
                <a:tc>
                  <a:txBody>
                    <a:bodyPr/>
                    <a:lstStyle/>
                    <a:p>
                      <a:r>
                        <a:rPr lang="en-US" sz="1600" dirty="0">
                          <a:latin typeface="Proxima Nova" panose="020B0604020202020204" charset="0"/>
                        </a:rPr>
                        <a:t>91.06%</a:t>
                      </a:r>
                      <a:endParaRPr lang="en-IN" sz="1600" dirty="0">
                        <a:latin typeface="Proxima Nova" panose="020B0604020202020204" charset="0"/>
                      </a:endParaRPr>
                    </a:p>
                  </a:txBody>
                  <a:tcPr/>
                </a:tc>
                <a:extLst>
                  <a:ext uri="{0D108BD9-81ED-4DB2-BD59-A6C34878D82A}">
                    <a16:rowId xmlns:a16="http://schemas.microsoft.com/office/drawing/2014/main" val="1404685503"/>
                  </a:ext>
                </a:extLst>
              </a:tr>
              <a:tr h="370840">
                <a:tc>
                  <a:txBody>
                    <a:bodyPr/>
                    <a:lstStyle/>
                    <a:p>
                      <a:r>
                        <a:rPr lang="en-US" sz="1600" b="1" dirty="0">
                          <a:latin typeface="Proxima Nova" panose="020B0604020202020204" charset="0"/>
                        </a:rPr>
                        <a:t>Our Model</a:t>
                      </a:r>
                      <a:endParaRPr lang="en-IN" sz="1600" b="1" dirty="0">
                        <a:latin typeface="Proxima Nova" panose="020B0604020202020204" charset="0"/>
                      </a:endParaRPr>
                    </a:p>
                  </a:txBody>
                  <a:tcPr/>
                </a:tc>
                <a:tc>
                  <a:txBody>
                    <a:bodyPr/>
                    <a:lstStyle/>
                    <a:p>
                      <a:r>
                        <a:rPr lang="en-US" sz="1600" b="1" dirty="0">
                          <a:latin typeface="Proxima Nova" panose="020B0604020202020204" charset="0"/>
                        </a:rPr>
                        <a:t>97.18%</a:t>
                      </a:r>
                      <a:endParaRPr lang="en-IN" sz="1600" b="1" dirty="0">
                        <a:latin typeface="Proxima Nova" panose="020B0604020202020204" charset="0"/>
                      </a:endParaRPr>
                    </a:p>
                  </a:txBody>
                  <a:tcPr/>
                </a:tc>
                <a:extLst>
                  <a:ext uri="{0D108BD9-81ED-4DB2-BD59-A6C34878D82A}">
                    <a16:rowId xmlns:a16="http://schemas.microsoft.com/office/drawing/2014/main" val="336461322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a:extLst>
            <a:ext uri="{FF2B5EF4-FFF2-40B4-BE49-F238E27FC236}">
              <a16:creationId xmlns:a16="http://schemas.microsoft.com/office/drawing/2014/main" id="{8DB957F9-89D9-8FED-998C-76F34827A668}"/>
            </a:ext>
          </a:extLst>
        </p:cNvPr>
        <p:cNvGrpSpPr/>
        <p:nvPr/>
      </p:nvGrpSpPr>
      <p:grpSpPr>
        <a:xfrm>
          <a:off x="0" y="0"/>
          <a:ext cx="0" cy="0"/>
          <a:chOff x="0" y="0"/>
          <a:chExt cx="0" cy="0"/>
        </a:xfrm>
      </p:grpSpPr>
      <p:sp>
        <p:nvSpPr>
          <p:cNvPr id="153" name="Google Shape;153;g3c4b2ca8496_0_24">
            <a:extLst>
              <a:ext uri="{FF2B5EF4-FFF2-40B4-BE49-F238E27FC236}">
                <a16:creationId xmlns:a16="http://schemas.microsoft.com/office/drawing/2014/main" id="{11CC0507-2EC1-88E7-ADED-4822F0662A61}"/>
              </a:ext>
            </a:extLst>
          </p:cNvPr>
          <p:cNvSpPr txBox="1">
            <a:spLocks noGrp="1"/>
          </p:cNvSpPr>
          <p:nvPr>
            <p:ph type="title"/>
          </p:nvPr>
        </p:nvSpPr>
        <p:spPr>
          <a:xfrm>
            <a:off x="534259" y="309562"/>
            <a:ext cx="23208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Dataset Details</a:t>
            </a:r>
            <a:endParaRPr sz="2400" b="1">
              <a:solidFill>
                <a:srgbClr val="04A2B9"/>
              </a:solidFill>
              <a:latin typeface="Proxima Nova"/>
              <a:ea typeface="Proxima Nova"/>
              <a:cs typeface="Proxima Nova"/>
              <a:sym typeface="Proxima Nova"/>
            </a:endParaRPr>
          </a:p>
        </p:txBody>
      </p:sp>
      <p:sp>
        <p:nvSpPr>
          <p:cNvPr id="154" name="Google Shape;154;g3c4b2ca8496_0_24">
            <a:extLst>
              <a:ext uri="{FF2B5EF4-FFF2-40B4-BE49-F238E27FC236}">
                <a16:creationId xmlns:a16="http://schemas.microsoft.com/office/drawing/2014/main" id="{CDBD5F0C-FA4C-F510-2959-E4B1DBF1B04F}"/>
              </a:ext>
            </a:extLst>
          </p:cNvPr>
          <p:cNvSpPr txBox="1"/>
          <p:nvPr/>
        </p:nvSpPr>
        <p:spPr>
          <a:xfrm>
            <a:off x="646142" y="1124750"/>
            <a:ext cx="10860058" cy="3370123"/>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a:solidFill>
                  <a:srgbClr val="666666"/>
                </a:solidFill>
                <a:latin typeface="Proxima Nova"/>
                <a:ea typeface="Proxima Nova"/>
                <a:cs typeface="Proxima Nova"/>
                <a:sym typeface="Proxima Nova"/>
              </a:rPr>
              <a:t>Dataset Size: </a:t>
            </a:r>
            <a:r>
              <a:rPr lang="en-US" sz="2000" i="0" u="none" strike="noStrike" cap="none" dirty="0">
                <a:solidFill>
                  <a:srgbClr val="666666"/>
                </a:solidFill>
                <a:latin typeface="Proxima Nova"/>
                <a:ea typeface="Proxima Nova"/>
                <a:cs typeface="Proxima Nova"/>
                <a:sym typeface="Proxima Nova"/>
              </a:rPr>
              <a:t>200,000 QR codes Image Based (Kaggle)</a:t>
            </a:r>
          </a:p>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a:solidFill>
                  <a:srgbClr val="666666"/>
                </a:solidFill>
                <a:latin typeface="Proxima Nova"/>
                <a:ea typeface="Proxima Nova"/>
                <a:cs typeface="Proxima Nova"/>
                <a:sym typeface="Proxima Nova"/>
              </a:rPr>
              <a:t>Legitimate (Benign): </a:t>
            </a:r>
            <a:r>
              <a:rPr lang="en-US" sz="2000" i="0" u="none" strike="noStrike" cap="none" dirty="0">
                <a:solidFill>
                  <a:srgbClr val="666666"/>
                </a:solidFill>
                <a:latin typeface="Proxima Nova"/>
                <a:ea typeface="Proxima Nova"/>
                <a:cs typeface="Proxima Nova"/>
                <a:sym typeface="Proxima Nova"/>
              </a:rPr>
              <a:t>100,000 QR codes.</a:t>
            </a:r>
          </a:p>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a:solidFill>
                  <a:srgbClr val="666666"/>
                </a:solidFill>
                <a:latin typeface="Proxima Nova"/>
                <a:ea typeface="Proxima Nova"/>
                <a:cs typeface="Proxima Nova"/>
                <a:sym typeface="Proxima Nova"/>
              </a:rPr>
              <a:t>Phishing (Malicious): </a:t>
            </a:r>
            <a:r>
              <a:rPr lang="en-US" sz="2000" i="0" u="none" strike="noStrike" cap="none" dirty="0">
                <a:solidFill>
                  <a:srgbClr val="666666"/>
                </a:solidFill>
                <a:latin typeface="Proxima Nova"/>
                <a:ea typeface="Proxima Nova"/>
                <a:cs typeface="Proxima Nova"/>
                <a:sym typeface="Proxima Nova"/>
              </a:rPr>
              <a:t>100,000 QR codes.</a:t>
            </a:r>
          </a:p>
          <a:p>
            <a:pPr marL="285750" marR="0" lvl="0" indent="-285750" algn="just" rtl="0">
              <a:lnSpc>
                <a:spcPct val="115000"/>
              </a:lnSpc>
              <a:spcBef>
                <a:spcPts val="0"/>
              </a:spcBef>
              <a:spcAft>
                <a:spcPts val="0"/>
              </a:spcAft>
              <a:buClr>
                <a:srgbClr val="000000"/>
              </a:buClr>
              <a:buSzPts val="1800"/>
              <a:buFont typeface="Arial"/>
              <a:buChar char="•"/>
            </a:pPr>
            <a:endParaRPr lang="en-US" sz="2000" b="1"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i="0" u="none" strike="noStrike" cap="none" dirty="0">
                <a:solidFill>
                  <a:srgbClr val="666666"/>
                </a:solidFill>
                <a:latin typeface="Proxima Nova"/>
                <a:ea typeface="Proxima Nova"/>
                <a:cs typeface="Proxima Nova"/>
                <a:sym typeface="Proxima Nova"/>
              </a:rPr>
              <a:t>The QR code images that belong to malicious URLs are under the 'malicious' folder with 'malicious' word in their file name. On the other hand, the QR cods that belongs to benign URLs are listed under 'benign' folder with 'benign' word appears in their filename.</a:t>
            </a:r>
          </a:p>
          <a:p>
            <a:pPr marL="285750" marR="0" lvl="0" indent="-285750" algn="just" rtl="0">
              <a:lnSpc>
                <a:spcPct val="115000"/>
              </a:lnSpc>
              <a:spcBef>
                <a:spcPts val="0"/>
              </a:spcBef>
              <a:spcAft>
                <a:spcPts val="0"/>
              </a:spcAft>
              <a:buClr>
                <a:srgbClr val="000000"/>
              </a:buClr>
              <a:buSzPts val="1800"/>
              <a:buFont typeface="Arial"/>
              <a:buChar char="•"/>
            </a:pPr>
            <a:endParaRPr lang="en-US" sz="2000" b="1"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1" i="0" u="none" strike="noStrike" cap="none" dirty="0">
                <a:solidFill>
                  <a:srgbClr val="666666"/>
                </a:solidFill>
                <a:latin typeface="Proxima Nova"/>
                <a:ea typeface="Proxima Nova"/>
                <a:cs typeface="Proxima Nova"/>
                <a:sym typeface="Proxima Nova"/>
              </a:rPr>
              <a:t>Purpose: </a:t>
            </a:r>
            <a:r>
              <a:rPr lang="en-US" sz="2000" i="0" u="none" strike="noStrike" cap="none" dirty="0">
                <a:solidFill>
                  <a:srgbClr val="666666"/>
                </a:solidFill>
                <a:latin typeface="Proxima Nova"/>
                <a:ea typeface="Proxima Nova"/>
                <a:cs typeface="Proxima Nova"/>
                <a:sym typeface="Proxima Nova"/>
              </a:rPr>
              <a:t>Used to train machine learning models to detect phishing/spam </a:t>
            </a:r>
            <a:r>
              <a:rPr lang="en-US" sz="2000" i="0" u="none" strike="noStrike" cap="none" dirty="0" err="1">
                <a:solidFill>
                  <a:srgbClr val="666666"/>
                </a:solidFill>
                <a:latin typeface="Proxima Nova"/>
                <a:ea typeface="Proxima Nova"/>
                <a:cs typeface="Proxima Nova"/>
                <a:sym typeface="Proxima Nova"/>
              </a:rPr>
              <a:t>QRs.</a:t>
            </a:r>
            <a:endParaRPr lang="en-US" sz="2000" i="0" u="none" strike="noStrike" cap="none" dirty="0">
              <a:solidFill>
                <a:srgbClr val="666666"/>
              </a:solidFill>
              <a:latin typeface="Proxima Nova"/>
              <a:ea typeface="Proxima Nova"/>
              <a:cs typeface="Proxima Nova"/>
              <a:sym typeface="Proxima Nova"/>
            </a:endParaRPr>
          </a:p>
        </p:txBody>
      </p:sp>
    </p:spTree>
    <p:extLst>
      <p:ext uri="{BB962C8B-B14F-4D97-AF65-F5344CB8AC3E}">
        <p14:creationId xmlns:p14="http://schemas.microsoft.com/office/powerpoint/2010/main" val="1499925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4"/>
        <p:cNvGrpSpPr/>
        <p:nvPr/>
      </p:nvGrpSpPr>
      <p:grpSpPr>
        <a:xfrm>
          <a:off x="0" y="0"/>
          <a:ext cx="0" cy="0"/>
          <a:chOff x="0" y="0"/>
          <a:chExt cx="0" cy="0"/>
        </a:xfrm>
      </p:grpSpPr>
      <p:sp>
        <p:nvSpPr>
          <p:cNvPr id="165" name="Google Shape;165;g3c4d3c9a19d_0_34"/>
          <p:cNvSpPr txBox="1">
            <a:spLocks noGrp="1"/>
          </p:cNvSpPr>
          <p:nvPr>
            <p:ph type="title"/>
          </p:nvPr>
        </p:nvSpPr>
        <p:spPr>
          <a:xfrm>
            <a:off x="534258" y="309584"/>
            <a:ext cx="3453541"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Proposed Methodology</a:t>
            </a:r>
            <a:endParaRPr sz="2400" b="1" dirty="0">
              <a:solidFill>
                <a:srgbClr val="04A2B9"/>
              </a:solidFill>
              <a:latin typeface="Proxima Nova"/>
              <a:ea typeface="Proxima Nova"/>
              <a:cs typeface="Proxima Nova"/>
              <a:sym typeface="Proxima Nova"/>
            </a:endParaRPr>
          </a:p>
        </p:txBody>
      </p:sp>
      <p:pic>
        <p:nvPicPr>
          <p:cNvPr id="166" name="Google Shape;166;g3c4d3c9a19d_0_34"/>
          <p:cNvPicPr preferRelativeResize="0"/>
          <p:nvPr/>
        </p:nvPicPr>
        <p:blipFill rotWithShape="1">
          <a:blip r:embed="rId4">
            <a:alphaModFix/>
          </a:blip>
          <a:srcRect/>
          <a:stretch/>
        </p:blipFill>
        <p:spPr>
          <a:xfrm>
            <a:off x="3062680" y="1158446"/>
            <a:ext cx="6066640" cy="52762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sp>
        <p:nvSpPr>
          <p:cNvPr id="159" name="Google Shape;159;g3c4b2ca8496_0_43"/>
          <p:cNvSpPr txBox="1">
            <a:spLocks noGrp="1"/>
          </p:cNvSpPr>
          <p:nvPr>
            <p:ph type="title"/>
          </p:nvPr>
        </p:nvSpPr>
        <p:spPr>
          <a:xfrm>
            <a:off x="534259" y="309584"/>
            <a:ext cx="3462008" cy="382156"/>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400" b="1" dirty="0">
                <a:solidFill>
                  <a:srgbClr val="04A2B9"/>
                </a:solidFill>
                <a:latin typeface="Proxima Nova"/>
                <a:ea typeface="Proxima Nova"/>
                <a:cs typeface="Proxima Nova"/>
                <a:sym typeface="Proxima Nova"/>
              </a:rPr>
              <a:t>Proposed Methodology</a:t>
            </a:r>
            <a:endParaRPr sz="2400" b="1" dirty="0">
              <a:solidFill>
                <a:srgbClr val="04A2B9"/>
              </a:solidFill>
              <a:latin typeface="Proxima Nova"/>
              <a:ea typeface="Proxima Nova"/>
              <a:cs typeface="Proxima Nova"/>
              <a:sym typeface="Proxima Nova"/>
            </a:endParaRPr>
          </a:p>
        </p:txBody>
      </p:sp>
      <p:sp>
        <p:nvSpPr>
          <p:cNvPr id="160" name="Google Shape;160;g3c4b2ca8496_0_43"/>
          <p:cNvSpPr txBox="1"/>
          <p:nvPr/>
        </p:nvSpPr>
        <p:spPr>
          <a:xfrm>
            <a:off x="646154" y="1124750"/>
            <a:ext cx="10842600" cy="420112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QR Code Dataset: </a:t>
            </a:r>
            <a:r>
              <a:rPr lang="en-US" sz="1800" b="0" i="0" u="none" strike="noStrike" cap="none" dirty="0">
                <a:solidFill>
                  <a:srgbClr val="666666"/>
                </a:solidFill>
                <a:latin typeface="Proxima Nova"/>
                <a:ea typeface="Proxima Nova"/>
                <a:cs typeface="Proxima Nova"/>
                <a:sym typeface="Proxima Nova"/>
              </a:rPr>
              <a:t>Load the dataset containing both legitimate and phishing QR code images.</a:t>
            </a:r>
            <a:endParaRPr lang="en-US" sz="1800" b="1" i="0" u="none" strike="noStrike" cap="none" dirty="0">
              <a:solidFill>
                <a:srgbClr val="666666"/>
              </a:solidFill>
              <a:latin typeface="Proxima Nova"/>
              <a:ea typeface="Proxima Nova"/>
              <a:cs typeface="Proxima Nova"/>
              <a:sym typeface="Proxima Nova"/>
            </a:endParaRPr>
          </a:p>
          <a:p>
            <a:pPr marL="285750" marR="0" lvl="0" indent="-285750" algn="just" rtl="0">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QR Decoding &amp; Preprocessing: </a:t>
            </a:r>
            <a:r>
              <a:rPr lang="en-US" sz="1800" b="0" i="0" u="none" strike="noStrike" cap="none" dirty="0">
                <a:solidFill>
                  <a:srgbClr val="666666"/>
                </a:solidFill>
                <a:latin typeface="Proxima Nova"/>
                <a:ea typeface="Proxima Nova"/>
                <a:cs typeface="Proxima Nova"/>
                <a:sym typeface="Proxima Nova"/>
              </a:rPr>
              <a:t>Decode QR codes to extract embedded URLs and preprocess the images for analysis.</a:t>
            </a:r>
            <a:endParaRPr lang="en-US" sz="1800" b="1" i="0" u="none" strike="noStrike" cap="none" dirty="0">
              <a:solidFill>
                <a:srgbClr val="666666"/>
              </a:solidFill>
              <a:latin typeface="Proxima Nova"/>
              <a:ea typeface="Proxima Nova"/>
              <a:cs typeface="Proxima Nova"/>
              <a:sym typeface="Proxima Nova"/>
            </a:endParaRPr>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Feature Extraction: </a:t>
            </a:r>
            <a:r>
              <a:rPr lang="en-US" sz="1800" b="0" i="0" u="none" strike="noStrike" cap="none" dirty="0">
                <a:solidFill>
                  <a:srgbClr val="666666"/>
                </a:solidFill>
                <a:latin typeface="Proxima Nova"/>
                <a:ea typeface="Proxima Nova"/>
                <a:cs typeface="Proxima Nova"/>
                <a:sym typeface="Proxima Nova"/>
              </a:rPr>
              <a:t>Extract visual features from QR images and lexical features from the decoded URLs.</a:t>
            </a:r>
            <a:endParaRPr lang="en-US" sz="1800" b="1" i="0" u="none" strike="noStrike" cap="none" dirty="0">
              <a:solidFill>
                <a:srgbClr val="666666"/>
              </a:solidFill>
              <a:latin typeface="Proxima Nova"/>
              <a:ea typeface="Proxima Nova"/>
              <a:cs typeface="Proxima Nova"/>
              <a:sym typeface="Proxima Nova"/>
            </a:endParaRPr>
          </a:p>
          <a:p>
            <a:pPr marL="285750" marR="0" lvl="0" indent="-285750" algn="just" rtl="0">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Hybrid Vectorization: </a:t>
            </a:r>
            <a:r>
              <a:rPr lang="en-US" sz="1800" b="0" i="0" u="none" strike="noStrike" cap="none" dirty="0">
                <a:solidFill>
                  <a:srgbClr val="666666"/>
                </a:solidFill>
                <a:latin typeface="Proxima Nova"/>
                <a:ea typeface="Proxima Nova"/>
                <a:cs typeface="Proxima Nova"/>
                <a:sym typeface="Proxima Nova"/>
              </a:rPr>
              <a:t>Combine URL lexical features and QR image visual features into a single hybrid feature vector.</a:t>
            </a:r>
          </a:p>
          <a:p>
            <a:pPr marL="285750" marR="0" lvl="0" indent="-285750" algn="just" rtl="0">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ML Model Training: </a:t>
            </a:r>
            <a:r>
              <a:rPr lang="en-US" sz="1800" b="0" i="0" u="none" strike="noStrike" cap="none" dirty="0">
                <a:solidFill>
                  <a:srgbClr val="666666"/>
                </a:solidFill>
                <a:latin typeface="Proxima Nova"/>
                <a:ea typeface="Proxima Nova"/>
                <a:cs typeface="Proxima Nova"/>
                <a:sym typeface="Proxima Nova"/>
              </a:rPr>
              <a:t>Train and Test multiple machine learning models, including Random Forest, SVM, </a:t>
            </a:r>
            <a:r>
              <a:rPr lang="en-US" sz="1800" b="0" i="0" u="none" strike="noStrike" cap="none" dirty="0" err="1">
                <a:solidFill>
                  <a:srgbClr val="666666"/>
                </a:solidFill>
                <a:latin typeface="Proxima Nova"/>
                <a:ea typeface="Proxima Nova"/>
                <a:cs typeface="Proxima Nova"/>
                <a:sym typeface="Proxima Nova"/>
              </a:rPr>
              <a:t>XGBoost</a:t>
            </a:r>
            <a:r>
              <a:rPr lang="en-US" sz="1800" b="0" i="0" u="none" strike="noStrike" cap="none" dirty="0">
                <a:solidFill>
                  <a:srgbClr val="666666"/>
                </a:solidFill>
                <a:latin typeface="Proxima Nova"/>
                <a:ea typeface="Proxima Nova"/>
                <a:cs typeface="Proxima Nova"/>
                <a:sym typeface="Proxima Nova"/>
              </a:rPr>
              <a:t>, </a:t>
            </a:r>
            <a:r>
              <a:rPr lang="en-US" sz="1800" b="0" i="0" u="none" strike="noStrike" cap="none" dirty="0" err="1">
                <a:solidFill>
                  <a:srgbClr val="666666"/>
                </a:solidFill>
                <a:latin typeface="Proxima Nova"/>
                <a:ea typeface="Proxima Nova"/>
                <a:cs typeface="Proxima Nova"/>
                <a:sym typeface="Proxima Nova"/>
              </a:rPr>
              <a:t>LightGBM</a:t>
            </a:r>
            <a:r>
              <a:rPr lang="en-US" sz="1800" b="0" i="0" u="none" strike="noStrike" cap="none" dirty="0">
                <a:solidFill>
                  <a:srgbClr val="666666"/>
                </a:solidFill>
                <a:latin typeface="Proxima Nova"/>
                <a:ea typeface="Proxima Nova"/>
                <a:cs typeface="Proxima Nova"/>
                <a:sym typeface="Proxima Nova"/>
              </a:rPr>
              <a:t>, Decision Tree, and Voting Ensemble.</a:t>
            </a:r>
          </a:p>
          <a:p>
            <a:pPr marL="285750" marR="0" lvl="0" indent="-285750" algn="just" rtl="0">
              <a:lnSpc>
                <a:spcPct val="150000"/>
              </a:lnSpc>
              <a:spcBef>
                <a:spcPts val="0"/>
              </a:spcBef>
              <a:spcAft>
                <a:spcPts val="0"/>
              </a:spcAft>
              <a:buClr>
                <a:srgbClr val="000000"/>
              </a:buClr>
              <a:buSzPts val="1800"/>
              <a:buFont typeface="Arial"/>
              <a:buChar char="•"/>
            </a:pPr>
            <a:r>
              <a:rPr lang="en-US" sz="1800" b="1" i="0" u="none" strike="noStrike" cap="none" dirty="0" err="1">
                <a:solidFill>
                  <a:srgbClr val="666666"/>
                </a:solidFill>
                <a:latin typeface="Proxima Nova"/>
                <a:ea typeface="Proxima Nova"/>
                <a:cs typeface="Proxima Nova"/>
                <a:sym typeface="Proxima Nova"/>
              </a:rPr>
              <a:t>Quishing</a:t>
            </a:r>
            <a:r>
              <a:rPr lang="en-US" sz="1800" b="1" i="0" u="none" strike="noStrike" cap="none" dirty="0">
                <a:solidFill>
                  <a:srgbClr val="666666"/>
                </a:solidFill>
                <a:latin typeface="Proxima Nova"/>
                <a:ea typeface="Proxima Nova"/>
                <a:cs typeface="Proxima Nova"/>
                <a:sym typeface="Proxima Nova"/>
              </a:rPr>
              <a:t> Detection: </a:t>
            </a:r>
            <a:r>
              <a:rPr lang="en-US" sz="1800" b="0" i="0" u="none" strike="noStrike" cap="none" dirty="0">
                <a:solidFill>
                  <a:srgbClr val="666666"/>
                </a:solidFill>
                <a:latin typeface="Proxima Nova"/>
                <a:ea typeface="Proxima Nova"/>
                <a:cs typeface="Proxima Nova"/>
                <a:sym typeface="Proxima Nova"/>
              </a:rPr>
              <a:t>Use the trained models to classify QR codes as Safe or Phishing.</a:t>
            </a:r>
          </a:p>
          <a:p>
            <a:pPr marL="285750" marR="0" lvl="0" indent="-285750" algn="just" rtl="0">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Risk Rating &amp; Model Prediction: </a:t>
            </a:r>
            <a:r>
              <a:rPr lang="en-US" sz="1800" b="0" i="0" u="none" strike="noStrike" cap="none" dirty="0">
                <a:solidFill>
                  <a:srgbClr val="666666"/>
                </a:solidFill>
                <a:latin typeface="Proxima Nova"/>
                <a:ea typeface="Proxima Nova"/>
                <a:cs typeface="Proxima Nova"/>
                <a:sym typeface="Proxima Nova"/>
              </a:rPr>
              <a:t>Generate the final prediction along with the corresponding risk level for each QR code.</a:t>
            </a:r>
          </a:p>
          <a:p>
            <a:pPr marL="285750" marR="0" lvl="0" indent="-285750" algn="just" rtl="0">
              <a:spcBef>
                <a:spcPts val="0"/>
              </a:spcBef>
              <a:spcAft>
                <a:spcPts val="0"/>
              </a:spcAft>
              <a:buClr>
                <a:srgbClr val="000000"/>
              </a:buClr>
              <a:buSzPts val="1800"/>
              <a:buFont typeface="Arial"/>
              <a:buChar char="•"/>
            </a:pPr>
            <a:r>
              <a:rPr lang="en-US" sz="1800" b="1" i="0" u="none" strike="noStrike" cap="none" dirty="0">
                <a:solidFill>
                  <a:srgbClr val="666666"/>
                </a:solidFill>
                <a:latin typeface="Proxima Nova"/>
                <a:ea typeface="Proxima Nova"/>
                <a:cs typeface="Proxima Nova"/>
                <a:sym typeface="Proxima Nova"/>
              </a:rPr>
              <a:t>Performance Evaluation: </a:t>
            </a:r>
            <a:r>
              <a:rPr lang="en-US" sz="1800" b="0" i="0" u="none" strike="noStrike" cap="none" dirty="0">
                <a:solidFill>
                  <a:srgbClr val="666666"/>
                </a:solidFill>
                <a:latin typeface="Proxima Nova"/>
                <a:ea typeface="Proxima Nova"/>
                <a:cs typeface="Proxima Nova"/>
                <a:sym typeface="Proxima Nova"/>
              </a:rPr>
              <a:t>Evaluate the trained models using Accuracy, Precision, Recall, F1-Score, and Confusion Matrix to measure their performance.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g3c4b2ca8496_0_48"/>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Tools &amp; Technologies Used</a:t>
            </a:r>
            <a:endParaRPr sz="2400" b="1">
              <a:solidFill>
                <a:srgbClr val="04A2B9"/>
              </a:solidFill>
              <a:latin typeface="Proxima Nova"/>
              <a:ea typeface="Proxima Nova"/>
              <a:cs typeface="Proxima Nova"/>
              <a:sym typeface="Proxima Nova"/>
            </a:endParaRPr>
          </a:p>
        </p:txBody>
      </p:sp>
      <p:sp>
        <p:nvSpPr>
          <p:cNvPr id="172" name="Google Shape;172;g3c4b2ca8496_0_48"/>
          <p:cNvSpPr txBox="1"/>
          <p:nvPr/>
        </p:nvSpPr>
        <p:spPr>
          <a:xfrm>
            <a:off x="646154" y="1124750"/>
            <a:ext cx="10842600" cy="5262949"/>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Programming Language: Python</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Development Environment: </a:t>
            </a:r>
            <a:r>
              <a:rPr lang="en-US" sz="2000" b="0" i="0" u="none" strike="noStrike" cap="none" dirty="0" err="1">
                <a:solidFill>
                  <a:srgbClr val="666666"/>
                </a:solidFill>
                <a:latin typeface="Proxima Nova"/>
                <a:ea typeface="Proxima Nova"/>
                <a:cs typeface="Proxima Nova"/>
                <a:sym typeface="Proxima Nova"/>
              </a:rPr>
              <a:t>Jupyter</a:t>
            </a:r>
            <a:r>
              <a:rPr lang="en-US" sz="2000" b="0" i="0" u="none" strike="noStrike" cap="none" dirty="0">
                <a:solidFill>
                  <a:srgbClr val="666666"/>
                </a:solidFill>
                <a:latin typeface="Proxima Nova"/>
                <a:ea typeface="Proxima Nova"/>
                <a:cs typeface="Proxima Nova"/>
                <a:sym typeface="Proxima Nova"/>
              </a:rPr>
              <a:t> Notebook (</a:t>
            </a:r>
            <a:r>
              <a:rPr lang="en-US" sz="2000" b="0" i="0" u="none" strike="noStrike" cap="none" dirty="0" err="1">
                <a:solidFill>
                  <a:srgbClr val="666666"/>
                </a:solidFill>
                <a:latin typeface="Proxima Nova"/>
                <a:ea typeface="Proxima Nova"/>
                <a:cs typeface="Proxima Nova"/>
                <a:sym typeface="Proxima Nova"/>
              </a:rPr>
              <a:t>IPython</a:t>
            </a:r>
            <a:r>
              <a:rPr lang="en-US" sz="2000" b="0" i="0" u="none" strike="noStrike" cap="none" dirty="0">
                <a:solidFill>
                  <a:srgbClr val="666666"/>
                </a:solidFill>
                <a:latin typeface="Proxima Nova"/>
                <a:ea typeface="Proxima Nova"/>
                <a:cs typeface="Proxima Nova"/>
                <a:sym typeface="Proxima Nova"/>
              </a:rPr>
              <a:t>)</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Image Processing: OpenCV (QR code decoding, preprocessing, edge detection, contour extraction)</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Data Processing: Pandas, NumPy</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Machine Learning: Scikit-Learn (preprocessing, feature scaling, Decision Tree, Random Forest, SVM (Linear), Voting Ensemble, evaluation metrics)</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Gradient Boosting: </a:t>
            </a:r>
            <a:r>
              <a:rPr lang="en-US" sz="2000" b="0" i="0" u="none" strike="noStrike" cap="none" dirty="0" err="1">
                <a:solidFill>
                  <a:srgbClr val="666666"/>
                </a:solidFill>
                <a:latin typeface="Proxima Nova"/>
                <a:ea typeface="Proxima Nova"/>
                <a:cs typeface="Proxima Nova"/>
                <a:sym typeface="Proxima Nova"/>
              </a:rPr>
              <a:t>XGBoost</a:t>
            </a:r>
            <a:r>
              <a:rPr lang="en-US" sz="2000" b="0" i="0" u="none" strike="noStrike" cap="none" dirty="0">
                <a:solidFill>
                  <a:srgbClr val="666666"/>
                </a:solidFill>
                <a:latin typeface="Proxima Nova"/>
                <a:ea typeface="Proxima Nova"/>
                <a:cs typeface="Proxima Nova"/>
                <a:sym typeface="Proxima Nova"/>
              </a:rPr>
              <a:t>, </a:t>
            </a:r>
            <a:r>
              <a:rPr lang="en-US" sz="2000" b="0" i="0" u="none" strike="noStrike" cap="none" dirty="0" err="1">
                <a:solidFill>
                  <a:srgbClr val="666666"/>
                </a:solidFill>
                <a:latin typeface="Proxima Nova"/>
                <a:ea typeface="Proxima Nova"/>
                <a:cs typeface="Proxima Nova"/>
                <a:sym typeface="Proxima Nova"/>
              </a:rPr>
              <a:t>LightGBM</a:t>
            </a:r>
            <a:r>
              <a:rPr lang="en-US" sz="2000" b="0" i="0" u="none" strike="noStrike" cap="none" dirty="0">
                <a:solidFill>
                  <a:srgbClr val="666666"/>
                </a:solidFill>
                <a:latin typeface="Proxima Nova"/>
                <a:ea typeface="Proxima Nova"/>
                <a:cs typeface="Proxima Nova"/>
                <a:sym typeface="Proxima Nova"/>
              </a:rPr>
              <a:t> (high-performance classification)</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Feature Extraction: Hybrid Features (QR image features + decoded URL features)</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Visualization: Matplotlib, Seaborn (confusion matrix and performance graphs)</a:t>
            </a:r>
          </a:p>
          <a:p>
            <a:pPr marL="285750" marR="0" lvl="0" indent="-285750" algn="just" rtl="0">
              <a:lnSpc>
                <a:spcPct val="150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Dataset: QR Code Phishing Dataset (200,000 QR code images – Legitimate &amp; Phishing)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a:extLst>
            <a:ext uri="{FF2B5EF4-FFF2-40B4-BE49-F238E27FC236}">
              <a16:creationId xmlns:a16="http://schemas.microsoft.com/office/drawing/2014/main" id="{227A6E88-8BDE-FA85-62E8-BC29483B1310}"/>
            </a:ext>
          </a:extLst>
        </p:cNvPr>
        <p:cNvGrpSpPr/>
        <p:nvPr/>
      </p:nvGrpSpPr>
      <p:grpSpPr>
        <a:xfrm>
          <a:off x="0" y="0"/>
          <a:ext cx="0" cy="0"/>
          <a:chOff x="0" y="0"/>
          <a:chExt cx="0" cy="0"/>
        </a:xfrm>
      </p:grpSpPr>
      <p:sp>
        <p:nvSpPr>
          <p:cNvPr id="177" name="Google Shape;177;g3c4b2ca8496_0_54">
            <a:extLst>
              <a:ext uri="{FF2B5EF4-FFF2-40B4-BE49-F238E27FC236}">
                <a16:creationId xmlns:a16="http://schemas.microsoft.com/office/drawing/2014/main" id="{EDD9165A-40E1-6CF1-A790-A8A5669719B8}"/>
              </a:ext>
            </a:extLst>
          </p:cNvPr>
          <p:cNvSpPr txBox="1">
            <a:spLocks noGrp="1"/>
          </p:cNvSpPr>
          <p:nvPr>
            <p:ph type="title"/>
          </p:nvPr>
        </p:nvSpPr>
        <p:spPr>
          <a:xfrm>
            <a:off x="534244" y="309572"/>
            <a:ext cx="4723556"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Model Result (Confusion Matrix)</a:t>
            </a:r>
            <a:endParaRPr sz="2400" b="1" dirty="0">
              <a:solidFill>
                <a:srgbClr val="04A2B9"/>
              </a:solidFill>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A548EFD2-9819-CF17-B91D-378E3737018E}"/>
              </a:ext>
            </a:extLst>
          </p:cNvPr>
          <p:cNvPicPr>
            <a:picLocks noChangeAspect="1"/>
          </p:cNvPicPr>
          <p:nvPr/>
        </p:nvPicPr>
        <p:blipFill>
          <a:blip r:embed="rId4"/>
          <a:stretch>
            <a:fillRect/>
          </a:stretch>
        </p:blipFill>
        <p:spPr>
          <a:xfrm>
            <a:off x="417118" y="1551385"/>
            <a:ext cx="11357763" cy="3755230"/>
          </a:xfrm>
          <a:prstGeom prst="rect">
            <a:avLst/>
          </a:prstGeom>
        </p:spPr>
      </p:pic>
    </p:spTree>
    <p:extLst>
      <p:ext uri="{BB962C8B-B14F-4D97-AF65-F5344CB8AC3E}">
        <p14:creationId xmlns:p14="http://schemas.microsoft.com/office/powerpoint/2010/main" val="2627439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a:extLst>
            <a:ext uri="{FF2B5EF4-FFF2-40B4-BE49-F238E27FC236}">
              <a16:creationId xmlns:a16="http://schemas.microsoft.com/office/drawing/2014/main" id="{1E178CD7-BB45-DFF6-475B-54CC2D534353}"/>
            </a:ext>
          </a:extLst>
        </p:cNvPr>
        <p:cNvGrpSpPr/>
        <p:nvPr/>
      </p:nvGrpSpPr>
      <p:grpSpPr>
        <a:xfrm>
          <a:off x="0" y="0"/>
          <a:ext cx="0" cy="0"/>
          <a:chOff x="0" y="0"/>
          <a:chExt cx="0" cy="0"/>
        </a:xfrm>
      </p:grpSpPr>
      <p:sp>
        <p:nvSpPr>
          <p:cNvPr id="177" name="Google Shape;177;g3c4b2ca8496_0_54">
            <a:extLst>
              <a:ext uri="{FF2B5EF4-FFF2-40B4-BE49-F238E27FC236}">
                <a16:creationId xmlns:a16="http://schemas.microsoft.com/office/drawing/2014/main" id="{4F47B9B5-2A84-0A4C-BE6E-A0414A9F0D95}"/>
              </a:ext>
            </a:extLst>
          </p:cNvPr>
          <p:cNvSpPr txBox="1">
            <a:spLocks noGrp="1"/>
          </p:cNvSpPr>
          <p:nvPr>
            <p:ph type="title"/>
          </p:nvPr>
        </p:nvSpPr>
        <p:spPr>
          <a:xfrm>
            <a:off x="534243" y="309572"/>
            <a:ext cx="4503423"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Model Result (Confusion Matrix)</a:t>
            </a:r>
            <a:endParaRPr sz="2400" b="1" dirty="0">
              <a:solidFill>
                <a:srgbClr val="04A2B9"/>
              </a:solidFill>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C6C760B8-B6CB-4ECA-4CEC-11A354A63C2E}"/>
              </a:ext>
            </a:extLst>
          </p:cNvPr>
          <p:cNvPicPr>
            <a:picLocks noChangeAspect="1"/>
          </p:cNvPicPr>
          <p:nvPr/>
        </p:nvPicPr>
        <p:blipFill>
          <a:blip r:embed="rId4"/>
          <a:srcRect/>
          <a:stretch/>
        </p:blipFill>
        <p:spPr>
          <a:xfrm>
            <a:off x="417118" y="1572316"/>
            <a:ext cx="11357763" cy="3713368"/>
          </a:xfrm>
          <a:prstGeom prst="rect">
            <a:avLst/>
          </a:prstGeom>
        </p:spPr>
      </p:pic>
    </p:spTree>
    <p:extLst>
      <p:ext uri="{BB962C8B-B14F-4D97-AF65-F5344CB8AC3E}">
        <p14:creationId xmlns:p14="http://schemas.microsoft.com/office/powerpoint/2010/main" val="4222509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p:cNvGrpSpPr/>
        <p:nvPr/>
      </p:nvGrpSpPr>
      <p:grpSpPr>
        <a:xfrm>
          <a:off x="0" y="0"/>
          <a:ext cx="0" cy="0"/>
          <a:chOff x="0" y="0"/>
          <a:chExt cx="0" cy="0"/>
        </a:xfrm>
      </p:grpSpPr>
      <p:sp>
        <p:nvSpPr>
          <p:cNvPr id="177" name="Google Shape;177;g3c4b2ca8496_0_54"/>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Model Result (ROC Curve)</a:t>
            </a:r>
            <a:endParaRPr sz="2400" b="1" dirty="0">
              <a:solidFill>
                <a:srgbClr val="04A2B9"/>
              </a:solidFill>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41A62FFA-C160-43FB-4131-A1A04598A553}"/>
              </a:ext>
            </a:extLst>
          </p:cNvPr>
          <p:cNvPicPr>
            <a:picLocks noChangeAspect="1"/>
          </p:cNvPicPr>
          <p:nvPr/>
        </p:nvPicPr>
        <p:blipFill>
          <a:blip r:embed="rId4"/>
          <a:stretch>
            <a:fillRect/>
          </a:stretch>
        </p:blipFill>
        <p:spPr>
          <a:xfrm>
            <a:off x="2254143" y="1220257"/>
            <a:ext cx="7683713" cy="51974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a:extLst>
            <a:ext uri="{FF2B5EF4-FFF2-40B4-BE49-F238E27FC236}">
              <a16:creationId xmlns:a16="http://schemas.microsoft.com/office/drawing/2014/main" id="{930089DA-6050-1548-567F-407ACB2D1E39}"/>
            </a:ext>
          </a:extLst>
        </p:cNvPr>
        <p:cNvGrpSpPr/>
        <p:nvPr/>
      </p:nvGrpSpPr>
      <p:grpSpPr>
        <a:xfrm>
          <a:off x="0" y="0"/>
          <a:ext cx="0" cy="0"/>
          <a:chOff x="0" y="0"/>
          <a:chExt cx="0" cy="0"/>
        </a:xfrm>
      </p:grpSpPr>
      <p:sp>
        <p:nvSpPr>
          <p:cNvPr id="177" name="Google Shape;177;g3c4b2ca8496_0_54">
            <a:extLst>
              <a:ext uri="{FF2B5EF4-FFF2-40B4-BE49-F238E27FC236}">
                <a16:creationId xmlns:a16="http://schemas.microsoft.com/office/drawing/2014/main" id="{E33EF3CE-3FBA-B3F9-9055-858BDDBD48E9}"/>
              </a:ext>
            </a:extLst>
          </p:cNvPr>
          <p:cNvSpPr txBox="1">
            <a:spLocks noGrp="1"/>
          </p:cNvSpPr>
          <p:nvPr>
            <p:ph type="title"/>
          </p:nvPr>
        </p:nvSpPr>
        <p:spPr>
          <a:xfrm>
            <a:off x="534243" y="309572"/>
            <a:ext cx="4935223"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Model Result (</a:t>
            </a:r>
            <a:r>
              <a:rPr lang="en-US" sz="2400" b="1" dirty="0" err="1">
                <a:solidFill>
                  <a:srgbClr val="04A2B9"/>
                </a:solidFill>
                <a:latin typeface="Proxima Nova"/>
                <a:ea typeface="Proxima Nova"/>
                <a:cs typeface="Proxima Nova"/>
                <a:sym typeface="Proxima Nova"/>
              </a:rPr>
              <a:t>Comparision</a:t>
            </a:r>
            <a:r>
              <a:rPr lang="en-US" sz="2400" b="1" dirty="0">
                <a:solidFill>
                  <a:srgbClr val="04A2B9"/>
                </a:solidFill>
                <a:latin typeface="Proxima Nova"/>
                <a:ea typeface="Proxima Nova"/>
                <a:cs typeface="Proxima Nova"/>
                <a:sym typeface="Proxima Nova"/>
              </a:rPr>
              <a:t> Table)</a:t>
            </a:r>
            <a:endParaRPr sz="2400" b="1" dirty="0">
              <a:solidFill>
                <a:srgbClr val="04A2B9"/>
              </a:solidFill>
              <a:latin typeface="Proxima Nova"/>
              <a:ea typeface="Proxima Nova"/>
              <a:cs typeface="Proxima Nova"/>
              <a:sym typeface="Proxima Nova"/>
            </a:endParaRPr>
          </a:p>
        </p:txBody>
      </p:sp>
      <p:pic>
        <p:nvPicPr>
          <p:cNvPr id="3" name="Picture 2">
            <a:extLst>
              <a:ext uri="{FF2B5EF4-FFF2-40B4-BE49-F238E27FC236}">
                <a16:creationId xmlns:a16="http://schemas.microsoft.com/office/drawing/2014/main" id="{4E514B30-3C44-E370-1C00-29B09BDF8ACA}"/>
              </a:ext>
            </a:extLst>
          </p:cNvPr>
          <p:cNvPicPr>
            <a:picLocks noChangeAspect="1"/>
          </p:cNvPicPr>
          <p:nvPr/>
        </p:nvPicPr>
        <p:blipFill>
          <a:blip r:embed="rId4"/>
          <a:stretch>
            <a:fillRect/>
          </a:stretch>
        </p:blipFill>
        <p:spPr>
          <a:xfrm>
            <a:off x="1931213" y="1262197"/>
            <a:ext cx="8329574" cy="2988069"/>
          </a:xfrm>
          <a:prstGeom prst="rect">
            <a:avLst/>
          </a:prstGeom>
        </p:spPr>
      </p:pic>
    </p:spTree>
    <p:extLst>
      <p:ext uri="{BB962C8B-B14F-4D97-AF65-F5344CB8AC3E}">
        <p14:creationId xmlns:p14="http://schemas.microsoft.com/office/powerpoint/2010/main" val="1961082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6">
          <a:extLst>
            <a:ext uri="{FF2B5EF4-FFF2-40B4-BE49-F238E27FC236}">
              <a16:creationId xmlns:a16="http://schemas.microsoft.com/office/drawing/2014/main" id="{09022277-DE75-662B-3951-2F6F8B3AB3D9}"/>
            </a:ext>
          </a:extLst>
        </p:cNvPr>
        <p:cNvGrpSpPr/>
        <p:nvPr/>
      </p:nvGrpSpPr>
      <p:grpSpPr>
        <a:xfrm>
          <a:off x="0" y="0"/>
          <a:ext cx="0" cy="0"/>
          <a:chOff x="0" y="0"/>
          <a:chExt cx="0" cy="0"/>
        </a:xfrm>
      </p:grpSpPr>
      <p:sp>
        <p:nvSpPr>
          <p:cNvPr id="177" name="Google Shape;177;g3c4b2ca8496_0_54">
            <a:extLst>
              <a:ext uri="{FF2B5EF4-FFF2-40B4-BE49-F238E27FC236}">
                <a16:creationId xmlns:a16="http://schemas.microsoft.com/office/drawing/2014/main" id="{3E193833-D79F-EE27-17A7-8FED9B3DE5F1}"/>
              </a:ext>
            </a:extLst>
          </p:cNvPr>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a:ea typeface="Proxima Nova"/>
                <a:cs typeface="Proxima Nova"/>
                <a:sym typeface="Proxima Nova"/>
              </a:rPr>
              <a:t>Model Result (Testing)</a:t>
            </a:r>
            <a:endParaRPr sz="2400" b="1" dirty="0">
              <a:solidFill>
                <a:srgbClr val="04A2B9"/>
              </a:solidFill>
              <a:latin typeface="Proxima Nova"/>
              <a:ea typeface="Proxima Nova"/>
              <a:cs typeface="Proxima Nova"/>
              <a:sym typeface="Proxima Nova"/>
            </a:endParaRPr>
          </a:p>
        </p:txBody>
      </p:sp>
      <p:pic>
        <p:nvPicPr>
          <p:cNvPr id="178" name="Google Shape;178;g3c4b2ca8496_0_54">
            <a:extLst>
              <a:ext uri="{FF2B5EF4-FFF2-40B4-BE49-F238E27FC236}">
                <a16:creationId xmlns:a16="http://schemas.microsoft.com/office/drawing/2014/main" id="{A98140C5-3515-BA6F-16A3-E65F76C02C83}"/>
              </a:ext>
            </a:extLst>
          </p:cNvPr>
          <p:cNvPicPr preferRelativeResize="0"/>
          <p:nvPr/>
        </p:nvPicPr>
        <p:blipFill rotWithShape="1">
          <a:blip r:embed="rId4">
            <a:alphaModFix/>
          </a:blip>
          <a:srcRect/>
          <a:stretch/>
        </p:blipFill>
        <p:spPr>
          <a:xfrm>
            <a:off x="1513634" y="1948549"/>
            <a:ext cx="3981450" cy="3822826"/>
          </a:xfrm>
          <a:prstGeom prst="rect">
            <a:avLst/>
          </a:prstGeom>
          <a:noFill/>
          <a:ln w="19050" cap="flat" cmpd="sng">
            <a:solidFill>
              <a:schemeClr val="dk2"/>
            </a:solidFill>
            <a:prstDash val="solid"/>
            <a:round/>
            <a:headEnd type="none" w="sm" len="sm"/>
            <a:tailEnd type="none" w="sm" len="sm"/>
          </a:ln>
        </p:spPr>
      </p:pic>
      <p:pic>
        <p:nvPicPr>
          <p:cNvPr id="179" name="Google Shape;179;g3c4b2ca8496_0_54">
            <a:extLst>
              <a:ext uri="{FF2B5EF4-FFF2-40B4-BE49-F238E27FC236}">
                <a16:creationId xmlns:a16="http://schemas.microsoft.com/office/drawing/2014/main" id="{CA0D8C14-BC77-E31E-606E-F85FB16D4F88}"/>
              </a:ext>
            </a:extLst>
          </p:cNvPr>
          <p:cNvPicPr preferRelativeResize="0"/>
          <p:nvPr/>
        </p:nvPicPr>
        <p:blipFill rotWithShape="1">
          <a:blip r:embed="rId5">
            <a:alphaModFix/>
          </a:blip>
          <a:srcRect/>
          <a:stretch/>
        </p:blipFill>
        <p:spPr>
          <a:xfrm>
            <a:off x="5926431" y="1948549"/>
            <a:ext cx="4639970" cy="3822826"/>
          </a:xfrm>
          <a:prstGeom prst="rect">
            <a:avLst/>
          </a:prstGeom>
          <a:noFill/>
          <a:ln w="19050" cap="flat" cmpd="sng">
            <a:solidFill>
              <a:schemeClr val="dk2"/>
            </a:solidFill>
            <a:prstDash val="solid"/>
            <a:round/>
            <a:headEnd type="none" w="sm" len="sm"/>
            <a:tailEnd type="none" w="sm" len="sm"/>
          </a:ln>
        </p:spPr>
      </p:pic>
    </p:spTree>
    <p:extLst>
      <p:ext uri="{BB962C8B-B14F-4D97-AF65-F5344CB8AC3E}">
        <p14:creationId xmlns:p14="http://schemas.microsoft.com/office/powerpoint/2010/main" val="1452568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0"/>
        <p:cNvGrpSpPr/>
        <p:nvPr/>
      </p:nvGrpSpPr>
      <p:grpSpPr>
        <a:xfrm>
          <a:off x="0" y="0"/>
          <a:ext cx="0" cy="0"/>
          <a:chOff x="0" y="0"/>
          <a:chExt cx="0" cy="0"/>
        </a:xfrm>
      </p:grpSpPr>
      <p:sp>
        <p:nvSpPr>
          <p:cNvPr id="191" name="Google Shape;191;g3c4b2ca8496_0_63"/>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Conclusion</a:t>
            </a:r>
            <a:endParaRPr sz="2400" b="1">
              <a:solidFill>
                <a:srgbClr val="04A2B9"/>
              </a:solidFill>
              <a:latin typeface="Proxima Nova"/>
              <a:ea typeface="Proxima Nova"/>
              <a:cs typeface="Proxima Nova"/>
              <a:sym typeface="Proxima Nova"/>
            </a:endParaRPr>
          </a:p>
        </p:txBody>
      </p:sp>
      <p:sp>
        <p:nvSpPr>
          <p:cNvPr id="192" name="Google Shape;192;g3c4b2ca8496_0_63"/>
          <p:cNvSpPr txBox="1"/>
          <p:nvPr/>
        </p:nvSpPr>
        <p:spPr>
          <a:xfrm>
            <a:off x="646154" y="1124750"/>
            <a:ext cx="10842600" cy="2954625"/>
          </a:xfrm>
          <a:prstGeom prst="rect">
            <a:avLst/>
          </a:prstGeom>
          <a:noFill/>
          <a:ln>
            <a:noFill/>
          </a:ln>
        </p:spPr>
        <p:txBody>
          <a:bodyPr spcFirstLastPara="1" wrap="square" lIns="91425" tIns="91425" rIns="91425" bIns="91425" anchor="t" anchorCtr="0">
            <a:spAutoFit/>
          </a:bodyPr>
          <a:lstStyle/>
          <a:p>
            <a:pPr algn="just"/>
            <a:r>
              <a:rPr lang="en-IN" sz="2000" dirty="0">
                <a:solidFill>
                  <a:schemeClr val="tx1"/>
                </a:solidFill>
                <a:latin typeface="Proxima Nova" panose="020B0604020202020204" charset="0"/>
              </a:rPr>
              <a:t>The proposed </a:t>
            </a:r>
            <a:r>
              <a:rPr lang="en-IN" sz="2000" b="1" dirty="0">
                <a:solidFill>
                  <a:schemeClr val="tx1"/>
                </a:solidFill>
                <a:latin typeface="Proxima Nova" panose="020B0604020202020204" charset="0"/>
              </a:rPr>
              <a:t>QR Code Phishing Detection System</a:t>
            </a:r>
            <a:r>
              <a:rPr lang="en-IN" sz="2000" dirty="0">
                <a:solidFill>
                  <a:schemeClr val="tx1"/>
                </a:solidFill>
                <a:latin typeface="Proxima Nova" panose="020B0604020202020204" charset="0"/>
              </a:rPr>
              <a:t> was successfully developed to accurately identify both legitimate and malicious QR codes. The system uses a </a:t>
            </a:r>
            <a:r>
              <a:rPr lang="en-IN" sz="2000" b="1" dirty="0">
                <a:solidFill>
                  <a:schemeClr val="tx1"/>
                </a:solidFill>
                <a:latin typeface="Proxima Nova" panose="020B0604020202020204" charset="0"/>
              </a:rPr>
              <a:t>hybrid feature extraction approach</a:t>
            </a:r>
            <a:r>
              <a:rPr lang="en-IN" sz="2000" dirty="0">
                <a:solidFill>
                  <a:schemeClr val="tx1"/>
                </a:solidFill>
                <a:latin typeface="Proxima Nova" panose="020B0604020202020204" charset="0"/>
              </a:rPr>
              <a:t>, combining QR code image features with decoded URL features, which significantly improves detection performance. Multiple machine learning algorithms, including </a:t>
            </a:r>
            <a:r>
              <a:rPr lang="en-IN" sz="2000" b="1" dirty="0">
                <a:solidFill>
                  <a:schemeClr val="tx1"/>
                </a:solidFill>
                <a:latin typeface="Proxima Nova" panose="020B0604020202020204" charset="0"/>
              </a:rPr>
              <a:t>Decision Tree, Random Forest, SVM, </a:t>
            </a:r>
            <a:r>
              <a:rPr lang="en-IN" sz="2000" b="1" dirty="0" err="1">
                <a:solidFill>
                  <a:schemeClr val="tx1"/>
                </a:solidFill>
                <a:latin typeface="Proxima Nova" panose="020B0604020202020204" charset="0"/>
              </a:rPr>
              <a:t>XGBoost</a:t>
            </a:r>
            <a:r>
              <a:rPr lang="en-IN" sz="2000" b="1" dirty="0">
                <a:solidFill>
                  <a:schemeClr val="tx1"/>
                </a:solidFill>
                <a:latin typeface="Proxima Nova" panose="020B0604020202020204" charset="0"/>
              </a:rPr>
              <a:t>, </a:t>
            </a:r>
            <a:r>
              <a:rPr lang="en-IN" sz="2000" b="1" dirty="0" err="1">
                <a:solidFill>
                  <a:schemeClr val="tx1"/>
                </a:solidFill>
                <a:latin typeface="Proxima Nova" panose="020B0604020202020204" charset="0"/>
              </a:rPr>
              <a:t>LightGBM</a:t>
            </a:r>
            <a:r>
              <a:rPr lang="en-IN" sz="2000" b="1" dirty="0">
                <a:solidFill>
                  <a:schemeClr val="tx1"/>
                </a:solidFill>
                <a:latin typeface="Proxima Nova" panose="020B0604020202020204" charset="0"/>
              </a:rPr>
              <a:t>, </a:t>
            </a:r>
            <a:r>
              <a:rPr lang="en-IN" sz="2000" dirty="0">
                <a:solidFill>
                  <a:schemeClr val="tx1"/>
                </a:solidFill>
                <a:latin typeface="Proxima Nova" panose="020B0604020202020204" charset="0"/>
              </a:rPr>
              <a:t>and </a:t>
            </a:r>
            <a:r>
              <a:rPr lang="en-IN" sz="2000" b="1" dirty="0">
                <a:solidFill>
                  <a:schemeClr val="tx1"/>
                </a:solidFill>
                <a:latin typeface="Proxima Nova" panose="020B0604020202020204" charset="0"/>
              </a:rPr>
              <a:t>Voting Ensemble</a:t>
            </a:r>
            <a:r>
              <a:rPr lang="en-IN" sz="2000" dirty="0">
                <a:solidFill>
                  <a:schemeClr val="tx1"/>
                </a:solidFill>
                <a:latin typeface="Proxima Nova" panose="020B0604020202020204" charset="0"/>
              </a:rPr>
              <a:t>, were trained and evaluated. Among these, </a:t>
            </a:r>
            <a:r>
              <a:rPr lang="en-IN" sz="2000" b="1" dirty="0" err="1">
                <a:solidFill>
                  <a:schemeClr val="tx1"/>
                </a:solidFill>
                <a:latin typeface="Proxima Nova" panose="020B0604020202020204" charset="0"/>
              </a:rPr>
              <a:t>XGBoost</a:t>
            </a:r>
            <a:r>
              <a:rPr lang="en-IN" sz="2000" b="1" dirty="0">
                <a:solidFill>
                  <a:schemeClr val="tx1"/>
                </a:solidFill>
                <a:latin typeface="Proxima Nova" panose="020B0604020202020204" charset="0"/>
              </a:rPr>
              <a:t> </a:t>
            </a:r>
            <a:r>
              <a:rPr lang="en-IN" sz="2000" dirty="0">
                <a:solidFill>
                  <a:schemeClr val="tx1"/>
                </a:solidFill>
                <a:latin typeface="Proxima Nova" panose="020B0604020202020204" charset="0"/>
              </a:rPr>
              <a:t>and </a:t>
            </a:r>
            <a:r>
              <a:rPr lang="en-IN" sz="2000" b="1" dirty="0" err="1">
                <a:solidFill>
                  <a:schemeClr val="tx1"/>
                </a:solidFill>
                <a:latin typeface="Proxima Nova" panose="020B0604020202020204" charset="0"/>
              </a:rPr>
              <a:t>LightGBM</a:t>
            </a:r>
            <a:r>
              <a:rPr lang="en-IN" sz="2000" dirty="0">
                <a:solidFill>
                  <a:schemeClr val="tx1"/>
                </a:solidFill>
                <a:latin typeface="Proxima Nova" panose="020B0604020202020204" charset="0"/>
              </a:rPr>
              <a:t> achieved the highest accuracy 97.18% and were selected as the final models for the system. Overall, the proposed approach provides an effective solution for detecting </a:t>
            </a:r>
            <a:r>
              <a:rPr lang="en-IN" sz="2000" dirty="0" err="1">
                <a:solidFill>
                  <a:schemeClr val="tx1"/>
                </a:solidFill>
                <a:latin typeface="Proxima Nova" panose="020B0604020202020204" charset="0"/>
              </a:rPr>
              <a:t>Quishing</a:t>
            </a:r>
            <a:r>
              <a:rPr lang="en-IN" sz="2000" dirty="0">
                <a:solidFill>
                  <a:schemeClr val="tx1"/>
                </a:solidFill>
                <a:latin typeface="Proxima Nova" panose="020B0604020202020204" charset="0"/>
              </a:rPr>
              <a:t> attacks and enhances user protection against phishing QR codes.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6"/>
        <p:cNvGrpSpPr/>
        <p:nvPr/>
      </p:nvGrpSpPr>
      <p:grpSpPr>
        <a:xfrm>
          <a:off x="0" y="0"/>
          <a:ext cx="0" cy="0"/>
          <a:chOff x="0" y="0"/>
          <a:chExt cx="0" cy="0"/>
        </a:xfrm>
      </p:grpSpPr>
      <p:sp>
        <p:nvSpPr>
          <p:cNvPr id="197" name="Google Shape;197;g3c4b2ca8496_0_68"/>
          <p:cNvSpPr txBox="1">
            <a:spLocks noGrp="1"/>
          </p:cNvSpPr>
          <p:nvPr>
            <p:ph type="title"/>
          </p:nvPr>
        </p:nvSpPr>
        <p:spPr>
          <a:xfrm>
            <a:off x="534244" y="309550"/>
            <a:ext cx="3831300" cy="38220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Future Scope</a:t>
            </a:r>
            <a:endParaRPr sz="2400" b="1">
              <a:solidFill>
                <a:srgbClr val="04A2B9"/>
              </a:solidFill>
              <a:latin typeface="Proxima Nova"/>
              <a:ea typeface="Proxima Nova"/>
              <a:cs typeface="Proxima Nova"/>
              <a:sym typeface="Proxima Nova"/>
            </a:endParaRPr>
          </a:p>
        </p:txBody>
      </p:sp>
      <p:sp>
        <p:nvSpPr>
          <p:cNvPr id="198" name="Google Shape;198;g3c4b2ca8496_0_68"/>
          <p:cNvSpPr txBox="1"/>
          <p:nvPr/>
        </p:nvSpPr>
        <p:spPr>
          <a:xfrm>
            <a:off x="646154" y="1124750"/>
            <a:ext cx="10842600" cy="3016180"/>
          </a:xfrm>
          <a:prstGeom prst="rect">
            <a:avLst/>
          </a:prstGeom>
          <a:noFill/>
          <a:ln>
            <a:noFill/>
          </a:ln>
        </p:spPr>
        <p:txBody>
          <a:bodyPr spcFirstLastPara="1" wrap="square" lIns="91425" tIns="91425" rIns="91425" bIns="91425" anchor="t" anchorCtr="0">
            <a:spAutoFit/>
          </a:bodyPr>
          <a:lstStyle/>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Prepare and submit the research paper to a national or international conference.</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Optimize the model for faster prediction and better real-time performance.</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Improve the model by incorporating and testing new phishing patterns and emerging attack techniques.</a:t>
            </a:r>
          </a:p>
          <a:p>
            <a:pPr marL="285750" marR="0" lvl="0" indent="-285750" algn="just" rtl="0">
              <a:lnSpc>
                <a:spcPct val="115000"/>
              </a:lnSpc>
              <a:spcBef>
                <a:spcPts val="0"/>
              </a:spcBef>
              <a:spcAft>
                <a:spcPts val="0"/>
              </a:spcAft>
              <a:buClr>
                <a:srgbClr val="000000"/>
              </a:buClr>
              <a:buSzPts val="1800"/>
              <a:buFont typeface="Arial"/>
              <a:buChar char="•"/>
            </a:pPr>
            <a:endParaRPr lang="en-US" sz="2000" b="0" i="0" u="none" strike="noStrike" cap="none" dirty="0">
              <a:solidFill>
                <a:srgbClr val="666666"/>
              </a:solidFill>
              <a:latin typeface="Proxima Nova"/>
              <a:ea typeface="Proxima Nova"/>
              <a:cs typeface="Proxima Nova"/>
              <a:sym typeface="Proxima Nova"/>
            </a:endParaRPr>
          </a:p>
          <a:p>
            <a:pPr marL="285750" marR="0" lvl="0" indent="-285750" algn="just" rtl="0">
              <a:lnSpc>
                <a:spcPct val="115000"/>
              </a:lnSpc>
              <a:spcBef>
                <a:spcPts val="0"/>
              </a:spcBef>
              <a:spcAft>
                <a:spcPts val="0"/>
              </a:spcAft>
              <a:buClr>
                <a:srgbClr val="000000"/>
              </a:buClr>
              <a:buSzPts val="1800"/>
              <a:buFont typeface="Arial"/>
              <a:buChar char="•"/>
            </a:pPr>
            <a:r>
              <a:rPr lang="en-US" sz="2000" b="0" i="0" u="none" strike="noStrike" cap="none" dirty="0">
                <a:solidFill>
                  <a:srgbClr val="666666"/>
                </a:solidFill>
                <a:latin typeface="Proxima Nova"/>
                <a:ea typeface="Proxima Nova"/>
                <a:cs typeface="Proxima Nova"/>
                <a:sym typeface="Proxima Nova"/>
              </a:rPr>
              <a:t>Test the model on more real-world QR code to improve its reliability.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p:cNvGrpSpPr/>
        <p:nvPr/>
      </p:nvGrpSpPr>
      <p:grpSpPr>
        <a:xfrm>
          <a:off x="0" y="0"/>
          <a:ext cx="0" cy="0"/>
          <a:chOff x="0" y="0"/>
          <a:chExt cx="0" cy="0"/>
        </a:xfrm>
      </p:grpSpPr>
      <p:sp>
        <p:nvSpPr>
          <p:cNvPr id="203" name="Google Shape;203;p5"/>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04" name="Google Shape;204;p5"/>
          <p:cNvSpPr txBox="1"/>
          <p:nvPr/>
        </p:nvSpPr>
        <p:spPr>
          <a:xfrm>
            <a:off x="633450" y="1048550"/>
            <a:ext cx="10938900" cy="5724614"/>
          </a:xfrm>
          <a:prstGeom prst="rect">
            <a:avLst/>
          </a:prstGeom>
          <a:noFill/>
          <a:ln>
            <a:noFill/>
          </a:ln>
        </p:spPr>
        <p:txBody>
          <a:bodyPr spcFirstLastPara="1" wrap="square" lIns="91425" tIns="91425" rIns="91425" bIns="91425" anchor="t" anchorCtr="0">
            <a:spAutoFit/>
          </a:bodyPr>
          <a:lstStyle/>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 </a:t>
            </a:r>
            <a:r>
              <a:rPr lang="en-US" sz="1600" i="0" u="none" strike="noStrike" cap="none" dirty="0">
                <a:solidFill>
                  <a:schemeClr val="dk1"/>
                </a:solidFill>
                <a:latin typeface="Proxima Nova"/>
                <a:ea typeface="Proxima Nova"/>
                <a:cs typeface="Proxima Nova"/>
                <a:sym typeface="Proxima Nova"/>
              </a:rPr>
              <a:t>R. Yalda, A. Khan, and N. Nepal, "B-</a:t>
            </a:r>
            <a:r>
              <a:rPr lang="en-US" sz="1600" i="0" u="none" strike="noStrike" cap="none" dirty="0" err="1">
                <a:solidFill>
                  <a:schemeClr val="dk1"/>
                </a:solidFill>
                <a:latin typeface="Proxima Nova"/>
                <a:ea typeface="Proxima Nova"/>
                <a:cs typeface="Proxima Nova"/>
                <a:sym typeface="Proxima Nova"/>
              </a:rPr>
              <a:t>PhishQR</a:t>
            </a:r>
            <a:r>
              <a:rPr lang="en-US" sz="1600" i="0" u="none" strike="noStrike" cap="none" dirty="0">
                <a:solidFill>
                  <a:schemeClr val="dk1"/>
                </a:solidFill>
                <a:latin typeface="Proxima Nova"/>
                <a:ea typeface="Proxima Nova"/>
                <a:cs typeface="Proxima Nova"/>
                <a:sym typeface="Proxima Nova"/>
              </a:rPr>
              <a:t>—A blockchain-based framework for secure QR code verification against phishing attacks," Telematics and Informatics Reports, vol. 21, p. 100289, 2026, </a:t>
            </a:r>
            <a:r>
              <a:rPr lang="en-US" sz="1600" i="0" u="none" strike="noStrike" cap="none" dirty="0" err="1">
                <a:solidFill>
                  <a:schemeClr val="dk1"/>
                </a:solidFill>
                <a:latin typeface="Proxima Nova"/>
                <a:ea typeface="Proxima Nova"/>
                <a:cs typeface="Proxima Nova"/>
                <a:sym typeface="Proxima Nova"/>
              </a:rPr>
              <a:t>doi</a:t>
            </a:r>
            <a:r>
              <a:rPr lang="en-US" sz="1600" i="0" u="none" strike="noStrike" cap="none" dirty="0">
                <a:solidFill>
                  <a:schemeClr val="dk1"/>
                </a:solidFill>
                <a:latin typeface="Proxima Nova"/>
                <a:ea typeface="Proxima Nova"/>
                <a:cs typeface="Proxima Nova"/>
                <a:sym typeface="Proxima Nova"/>
              </a:rPr>
              <a:t>: 10.1016/j.teler.2025.100289.</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[2] </a:t>
            </a:r>
            <a:r>
              <a:rPr lang="en-US" sz="1600" i="0" u="none" strike="noStrike" cap="none" dirty="0">
                <a:solidFill>
                  <a:schemeClr val="dk1"/>
                </a:solidFill>
                <a:latin typeface="Proxima Nova"/>
                <a:ea typeface="Proxima Nova"/>
                <a:cs typeface="Proxima Nova"/>
                <a:sym typeface="Proxima Nova"/>
              </a:rPr>
              <a:t>A. S. Rafsanjani, N. B. Kamaruddin, H. M. Rusli, and M. Dabbagh, "</a:t>
            </a:r>
            <a:r>
              <a:rPr lang="en-US" sz="1600" i="0" u="none" strike="noStrike" cap="none" dirty="0" err="1">
                <a:solidFill>
                  <a:schemeClr val="dk1"/>
                </a:solidFill>
                <a:latin typeface="Proxima Nova"/>
                <a:ea typeface="Proxima Nova"/>
                <a:cs typeface="Proxima Nova"/>
                <a:sym typeface="Proxima Nova"/>
              </a:rPr>
              <a:t>QsecR</a:t>
            </a:r>
            <a:r>
              <a:rPr lang="en-US" sz="1600" i="0" u="none" strike="noStrike" cap="none" dirty="0">
                <a:solidFill>
                  <a:schemeClr val="dk1"/>
                </a:solidFill>
                <a:latin typeface="Proxima Nova"/>
                <a:ea typeface="Proxima Nova"/>
                <a:cs typeface="Proxima Nova"/>
                <a:sym typeface="Proxima Nova"/>
              </a:rPr>
              <a:t>: Secure QR code Scanner According to a Novel Malicious URL Detection Framework," IEEE Access, vol. 11, pp. 92523-92539, 2023, </a:t>
            </a:r>
            <a:r>
              <a:rPr lang="en-US" sz="1600" i="0" u="none" strike="noStrike" cap="none" dirty="0" err="1">
                <a:solidFill>
                  <a:schemeClr val="dk1"/>
                </a:solidFill>
                <a:latin typeface="Proxima Nova"/>
                <a:ea typeface="Proxima Nova"/>
                <a:cs typeface="Proxima Nova"/>
                <a:sym typeface="Proxima Nova"/>
              </a:rPr>
              <a:t>doi</a:t>
            </a:r>
            <a:r>
              <a:rPr lang="en-US" sz="1600" i="0" u="none" strike="noStrike" cap="none" dirty="0">
                <a:solidFill>
                  <a:schemeClr val="dk1"/>
                </a:solidFill>
                <a:latin typeface="Proxima Nova"/>
                <a:ea typeface="Proxima Nova"/>
                <a:cs typeface="Proxima Nova"/>
                <a:sym typeface="Proxima Nova"/>
              </a:rPr>
              <a:t>: 10.1109/ACCESS.2023.3291811.</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[3] </a:t>
            </a:r>
            <a:r>
              <a:rPr lang="en-US" sz="1600" i="0" u="none" strike="noStrike" cap="none" dirty="0">
                <a:solidFill>
                  <a:schemeClr val="dk1"/>
                </a:solidFill>
                <a:latin typeface="Proxima Nova"/>
                <a:ea typeface="Proxima Nova"/>
                <a:cs typeface="Proxima Nova"/>
                <a:sym typeface="Proxima Nova"/>
              </a:rPr>
              <a:t>F. </a:t>
            </a:r>
            <a:r>
              <a:rPr lang="en-US" sz="1600" i="0" u="none" strike="noStrike" cap="none" dirty="0" err="1">
                <a:solidFill>
                  <a:schemeClr val="dk1"/>
                </a:solidFill>
                <a:latin typeface="Proxima Nova"/>
                <a:ea typeface="Proxima Nova"/>
                <a:cs typeface="Proxima Nova"/>
                <a:sym typeface="Proxima Nova"/>
              </a:rPr>
              <a:t>Nejati</a:t>
            </a:r>
            <a:r>
              <a:rPr lang="en-US" sz="1600" i="0" u="none" strike="noStrike" cap="none" dirty="0">
                <a:solidFill>
                  <a:schemeClr val="dk1"/>
                </a:solidFill>
                <a:latin typeface="Proxima Nova"/>
                <a:ea typeface="Proxima Nova"/>
                <a:cs typeface="Proxima Nova"/>
                <a:sym typeface="Proxima Nova"/>
              </a:rPr>
              <a:t>, M. Rabbani, M. Eskandarian, M. Mirani, G. Piya, I. </a:t>
            </a:r>
            <a:r>
              <a:rPr lang="en-US" sz="1600" i="0" u="none" strike="noStrike" cap="none" dirty="0" err="1">
                <a:solidFill>
                  <a:schemeClr val="dk1"/>
                </a:solidFill>
                <a:latin typeface="Proxima Nova"/>
                <a:ea typeface="Proxima Nova"/>
                <a:cs typeface="Proxima Nova"/>
                <a:sym typeface="Proxima Nova"/>
              </a:rPr>
              <a:t>Opushnyev</a:t>
            </a:r>
            <a:r>
              <a:rPr lang="en-US" sz="1600" i="0" u="none" strike="noStrike" cap="none" dirty="0">
                <a:solidFill>
                  <a:schemeClr val="dk1"/>
                </a:solidFill>
                <a:latin typeface="Proxima Nova"/>
                <a:ea typeface="Proxima Nova"/>
                <a:cs typeface="Proxima Nova"/>
                <a:sym typeface="Proxima Nova"/>
              </a:rPr>
              <a:t>, A. A. Ghorbani, and S. Dadkhah, "CIC-Trap4Phish: A Unified Multi-Format Dataset for Phishing and </a:t>
            </a:r>
            <a:r>
              <a:rPr lang="en-US" sz="1600" i="0" u="none" strike="noStrike" cap="none" dirty="0" err="1">
                <a:solidFill>
                  <a:schemeClr val="dk1"/>
                </a:solidFill>
                <a:latin typeface="Proxima Nova"/>
                <a:ea typeface="Proxima Nova"/>
                <a:cs typeface="Proxima Nova"/>
                <a:sym typeface="Proxima Nova"/>
              </a:rPr>
              <a:t>Quishing</a:t>
            </a:r>
            <a:r>
              <a:rPr lang="en-US" sz="1600" i="0" u="none" strike="noStrike" cap="none" dirty="0">
                <a:solidFill>
                  <a:schemeClr val="dk1"/>
                </a:solidFill>
                <a:latin typeface="Proxima Nova"/>
                <a:ea typeface="Proxima Nova"/>
                <a:cs typeface="Proxima Nova"/>
                <a:sym typeface="Proxima Nova"/>
              </a:rPr>
              <a:t> Attachment Detection," </a:t>
            </a:r>
            <a:r>
              <a:rPr lang="en-US" sz="1600" i="0" u="none" strike="noStrike" cap="none" dirty="0" err="1">
                <a:solidFill>
                  <a:schemeClr val="dk1"/>
                </a:solidFill>
                <a:latin typeface="Proxima Nova"/>
                <a:ea typeface="Proxima Nova"/>
                <a:cs typeface="Proxima Nova"/>
                <a:sym typeface="Proxima Nova"/>
              </a:rPr>
              <a:t>arXiv</a:t>
            </a:r>
            <a:r>
              <a:rPr lang="en-US" sz="1600" i="0" u="none" strike="noStrike" cap="none" dirty="0">
                <a:solidFill>
                  <a:schemeClr val="dk1"/>
                </a:solidFill>
                <a:latin typeface="Proxima Nova"/>
                <a:ea typeface="Proxima Nova"/>
                <a:cs typeface="Proxima Nova"/>
                <a:sym typeface="Proxima Nova"/>
              </a:rPr>
              <a:t> preprint arXiv:2602.09015, 2026.</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[4] </a:t>
            </a:r>
            <a:r>
              <a:rPr lang="en-US" sz="1600" i="0" u="none" strike="noStrike" cap="none" dirty="0">
                <a:solidFill>
                  <a:schemeClr val="dk1"/>
                </a:solidFill>
                <a:latin typeface="Proxima Nova"/>
                <a:ea typeface="Proxima Nova"/>
                <a:cs typeface="Proxima Nova"/>
                <a:sym typeface="Proxima Nova"/>
              </a:rPr>
              <a:t>M. A. </a:t>
            </a:r>
            <a:r>
              <a:rPr lang="en-US" sz="1600" i="0" u="none" strike="noStrike" cap="none" dirty="0" err="1">
                <a:solidFill>
                  <a:schemeClr val="dk1"/>
                </a:solidFill>
                <a:latin typeface="Proxima Nova"/>
                <a:ea typeface="Proxima Nova"/>
                <a:cs typeface="Proxima Nova"/>
                <a:sym typeface="Proxima Nova"/>
              </a:rPr>
              <a:t>Ozuberk</a:t>
            </a:r>
            <a:r>
              <a:rPr lang="en-US" sz="1600" i="0" u="none" strike="noStrike" cap="none" dirty="0">
                <a:solidFill>
                  <a:schemeClr val="dk1"/>
                </a:solidFill>
                <a:latin typeface="Proxima Nova"/>
                <a:ea typeface="Proxima Nova"/>
                <a:cs typeface="Proxima Nova"/>
                <a:sym typeface="Proxima Nova"/>
              </a:rPr>
              <a:t> and I. Cinar, "Malicious QR Code Classification Using Machine Learning, Deep Learning, and Explainable AI," in 2026 5th International Informatics and Software Engineering Conference (IISEC), 2026, pp. 1-6, </a:t>
            </a:r>
            <a:r>
              <a:rPr lang="en-US" sz="1600" i="0" u="none" strike="noStrike" cap="none" dirty="0" err="1">
                <a:solidFill>
                  <a:schemeClr val="dk1"/>
                </a:solidFill>
                <a:latin typeface="Proxima Nova"/>
                <a:ea typeface="Proxima Nova"/>
                <a:cs typeface="Proxima Nova"/>
                <a:sym typeface="Proxima Nova"/>
              </a:rPr>
              <a:t>doi</a:t>
            </a:r>
            <a:r>
              <a:rPr lang="en-US" sz="1600" i="0" u="none" strike="noStrike" cap="none" dirty="0">
                <a:solidFill>
                  <a:schemeClr val="dk1"/>
                </a:solidFill>
                <a:latin typeface="Proxima Nova"/>
                <a:ea typeface="Proxima Nova"/>
                <a:cs typeface="Proxima Nova"/>
                <a:sym typeface="Proxima Nova"/>
              </a:rPr>
              <a:t>: 10.1109/IISEC69317.2026.11418433. </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[5] </a:t>
            </a:r>
            <a:r>
              <a:rPr lang="en-US" sz="1600" i="0" u="none" strike="noStrike" cap="none" dirty="0">
                <a:solidFill>
                  <a:schemeClr val="dk1"/>
                </a:solidFill>
                <a:latin typeface="Proxima Nova"/>
                <a:ea typeface="Proxima Nova"/>
                <a:cs typeface="Proxima Nova"/>
                <a:sym typeface="Proxima Nova"/>
              </a:rPr>
              <a:t>F. Trad and A. Chehab, "Detecting </a:t>
            </a:r>
            <a:r>
              <a:rPr lang="en-US" sz="1600" i="0" u="none" strike="noStrike" cap="none" dirty="0" err="1">
                <a:solidFill>
                  <a:schemeClr val="dk1"/>
                </a:solidFill>
                <a:latin typeface="Proxima Nova"/>
                <a:ea typeface="Proxima Nova"/>
                <a:cs typeface="Proxima Nova"/>
                <a:sym typeface="Proxima Nova"/>
              </a:rPr>
              <a:t>Quishing</a:t>
            </a:r>
            <a:r>
              <a:rPr lang="en-US" sz="1600" i="0" u="none" strike="noStrike" cap="none" dirty="0">
                <a:solidFill>
                  <a:schemeClr val="dk1"/>
                </a:solidFill>
                <a:latin typeface="Proxima Nova"/>
                <a:ea typeface="Proxima Nova"/>
                <a:cs typeface="Proxima Nova"/>
                <a:sym typeface="Proxima Nova"/>
              </a:rPr>
              <a:t> Attacks with Machine Learning Techniques Through QR Code Analysis," </a:t>
            </a:r>
            <a:r>
              <a:rPr lang="en-US" sz="1600" i="0" u="none" strike="noStrike" cap="none" dirty="0" err="1">
                <a:solidFill>
                  <a:schemeClr val="dk1"/>
                </a:solidFill>
                <a:latin typeface="Proxima Nova"/>
                <a:ea typeface="Proxima Nova"/>
                <a:cs typeface="Proxima Nova"/>
                <a:sym typeface="Proxima Nova"/>
              </a:rPr>
              <a:t>arXiv</a:t>
            </a:r>
            <a:r>
              <a:rPr lang="en-US" sz="1600" i="0" u="none" strike="noStrike" cap="none" dirty="0">
                <a:solidFill>
                  <a:schemeClr val="dk1"/>
                </a:solidFill>
                <a:latin typeface="Proxima Nova"/>
                <a:ea typeface="Proxima Nova"/>
                <a:cs typeface="Proxima Nova"/>
                <a:sym typeface="Proxima Nova"/>
              </a:rPr>
              <a:t> preprint arXiv:2505.03451, 2026. </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[6] </a:t>
            </a:r>
            <a:r>
              <a:rPr lang="en-US" sz="1600" i="0" u="none" strike="noStrike" cap="none" dirty="0">
                <a:solidFill>
                  <a:schemeClr val="dk1"/>
                </a:solidFill>
                <a:latin typeface="Proxima Nova"/>
                <a:ea typeface="Proxima Nova"/>
                <a:cs typeface="Proxima Nova"/>
                <a:sym typeface="Proxima Nova"/>
              </a:rPr>
              <a:t>M. W. Akram, K. Sood, M. U. Hassan, and D. </a:t>
            </a:r>
            <a:r>
              <a:rPr lang="en-US" sz="1600" i="0" u="none" strike="noStrike" cap="none" dirty="0" err="1">
                <a:solidFill>
                  <a:schemeClr val="dk1"/>
                </a:solidFill>
                <a:latin typeface="Proxima Nova"/>
                <a:ea typeface="Proxima Nova"/>
                <a:cs typeface="Proxima Nova"/>
                <a:sym typeface="Proxima Nova"/>
              </a:rPr>
              <a:t>Thiruvady</a:t>
            </a:r>
            <a:r>
              <a:rPr lang="en-US" sz="1600" i="0" u="none" strike="noStrike" cap="none" dirty="0">
                <a:solidFill>
                  <a:schemeClr val="dk1"/>
                </a:solidFill>
                <a:latin typeface="Proxima Nova"/>
                <a:ea typeface="Proxima Nova"/>
                <a:cs typeface="Proxima Nova"/>
                <a:sym typeface="Proxima Nova"/>
              </a:rPr>
              <a:t>, "ALFA: A Safe-by-Design Approach to Mitigate </a:t>
            </a:r>
            <a:r>
              <a:rPr lang="en-US" sz="1600" i="0" u="none" strike="noStrike" cap="none" dirty="0" err="1">
                <a:solidFill>
                  <a:schemeClr val="dk1"/>
                </a:solidFill>
                <a:latin typeface="Proxima Nova"/>
                <a:ea typeface="Proxima Nova"/>
                <a:cs typeface="Proxima Nova"/>
                <a:sym typeface="Proxima Nova"/>
              </a:rPr>
              <a:t>Quishing</a:t>
            </a:r>
            <a:r>
              <a:rPr lang="en-US" sz="1600" i="0" u="none" strike="noStrike" cap="none" dirty="0">
                <a:solidFill>
                  <a:schemeClr val="dk1"/>
                </a:solidFill>
                <a:latin typeface="Proxima Nova"/>
                <a:ea typeface="Proxima Nova"/>
                <a:cs typeface="Proxima Nova"/>
                <a:sym typeface="Proxima Nova"/>
              </a:rPr>
              <a:t> Attacks Launched via Fancy QR Codes," </a:t>
            </a:r>
            <a:r>
              <a:rPr lang="en-US" sz="1600" i="0" u="none" strike="noStrike" cap="none" dirty="0" err="1">
                <a:solidFill>
                  <a:schemeClr val="dk1"/>
                </a:solidFill>
                <a:latin typeface="Proxima Nova"/>
                <a:ea typeface="Proxima Nova"/>
                <a:cs typeface="Proxima Nova"/>
                <a:sym typeface="Proxima Nova"/>
              </a:rPr>
              <a:t>arXiv</a:t>
            </a:r>
            <a:r>
              <a:rPr lang="en-US" sz="1600" i="0" u="none" strike="noStrike" cap="none" dirty="0">
                <a:solidFill>
                  <a:schemeClr val="dk1"/>
                </a:solidFill>
                <a:latin typeface="Proxima Nova"/>
                <a:ea typeface="Proxima Nova"/>
                <a:cs typeface="Proxima Nova"/>
                <a:sym typeface="Proxima Nova"/>
              </a:rPr>
              <a:t> preprint arXiv:2601.06768,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a:extLst>
            <a:ext uri="{FF2B5EF4-FFF2-40B4-BE49-F238E27FC236}">
              <a16:creationId xmlns:a16="http://schemas.microsoft.com/office/drawing/2014/main" id="{16D8213F-8F91-2969-3FD0-64840BCDC3B1}"/>
            </a:ext>
          </a:extLst>
        </p:cNvPr>
        <p:cNvGrpSpPr/>
        <p:nvPr/>
      </p:nvGrpSpPr>
      <p:grpSpPr>
        <a:xfrm>
          <a:off x="0" y="0"/>
          <a:ext cx="0" cy="0"/>
          <a:chOff x="0" y="0"/>
          <a:chExt cx="0" cy="0"/>
        </a:xfrm>
      </p:grpSpPr>
      <p:sp>
        <p:nvSpPr>
          <p:cNvPr id="203" name="Google Shape;203;p5">
            <a:extLst>
              <a:ext uri="{FF2B5EF4-FFF2-40B4-BE49-F238E27FC236}">
                <a16:creationId xmlns:a16="http://schemas.microsoft.com/office/drawing/2014/main" id="{2F4FB0B5-D2F4-0595-65C1-74F2FCE50D2E}"/>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04" name="Google Shape;204;p5">
            <a:extLst>
              <a:ext uri="{FF2B5EF4-FFF2-40B4-BE49-F238E27FC236}">
                <a16:creationId xmlns:a16="http://schemas.microsoft.com/office/drawing/2014/main" id="{4E0C92F5-1343-4F6A-45B1-37A249F3A476}"/>
              </a:ext>
            </a:extLst>
          </p:cNvPr>
          <p:cNvSpPr txBox="1"/>
          <p:nvPr/>
        </p:nvSpPr>
        <p:spPr>
          <a:xfrm>
            <a:off x="633450" y="1048550"/>
            <a:ext cx="10938900" cy="5724614"/>
          </a:xfrm>
          <a:prstGeom prst="rect">
            <a:avLst/>
          </a:prstGeom>
          <a:noFill/>
          <a:ln>
            <a:noFill/>
          </a:ln>
        </p:spPr>
        <p:txBody>
          <a:bodyPr spcFirstLastPara="1" wrap="square" lIns="91425" tIns="91425" rIns="91425" bIns="91425" anchor="t" anchorCtr="0">
            <a:spAutoFit/>
          </a:bodyPr>
          <a:lstStyle/>
          <a:p>
            <a:pPr lvl="0" algn="just">
              <a:lnSpc>
                <a:spcPct val="150000"/>
              </a:lnSpc>
              <a:buSzPts val="1600"/>
            </a:pPr>
            <a:r>
              <a:rPr lang="en-US" sz="1600" b="1" dirty="0">
                <a:solidFill>
                  <a:schemeClr val="dk1"/>
                </a:solidFill>
                <a:latin typeface="Proxima Nova"/>
                <a:ea typeface="Proxima Nova"/>
                <a:cs typeface="Proxima Nova"/>
                <a:sym typeface="Proxima Nova"/>
              </a:rPr>
              <a:t>[7] </a:t>
            </a:r>
            <a:r>
              <a:rPr lang="en-US" sz="1600" dirty="0">
                <a:solidFill>
                  <a:schemeClr val="dk1"/>
                </a:solidFill>
                <a:latin typeface="Proxima Nova"/>
                <a:ea typeface="Proxima Nova"/>
                <a:cs typeface="Proxima Nova"/>
                <a:sym typeface="Proxima Nova"/>
              </a:rPr>
              <a:t>M. W. Akram, K. Sood, and M. U. Hassan, "</a:t>
            </a:r>
            <a:r>
              <a:rPr lang="en-US" sz="1600" dirty="0" err="1">
                <a:solidFill>
                  <a:schemeClr val="dk1"/>
                </a:solidFill>
                <a:latin typeface="Proxima Nova"/>
                <a:ea typeface="Proxima Nova"/>
                <a:cs typeface="Proxima Nova"/>
                <a:sym typeface="Proxima Nova"/>
              </a:rPr>
              <a:t>QRïS</a:t>
            </a:r>
            <a:r>
              <a:rPr lang="en-US" sz="1600" dirty="0">
                <a:solidFill>
                  <a:schemeClr val="dk1"/>
                </a:solidFill>
                <a:latin typeface="Proxima Nova"/>
                <a:ea typeface="Proxima Nova"/>
                <a:cs typeface="Proxima Nova"/>
                <a:sym typeface="Proxima Nova"/>
              </a:rPr>
              <a:t>: A Preemptive Novel Method for </a:t>
            </a:r>
            <a:r>
              <a:rPr lang="en-US" sz="1600" dirty="0" err="1">
                <a:solidFill>
                  <a:schemeClr val="dk1"/>
                </a:solidFill>
                <a:latin typeface="Proxima Nova"/>
                <a:ea typeface="Proxima Nova"/>
                <a:cs typeface="Proxima Nova"/>
                <a:sym typeface="Proxima Nova"/>
              </a:rPr>
              <a:t>Quishing</a:t>
            </a:r>
            <a:r>
              <a:rPr lang="en-US" sz="1600" dirty="0">
                <a:solidFill>
                  <a:schemeClr val="dk1"/>
                </a:solidFill>
                <a:latin typeface="Proxima Nova"/>
                <a:ea typeface="Proxima Nova"/>
                <a:cs typeface="Proxima Nova"/>
                <a:sym typeface="Proxima Nova"/>
              </a:rPr>
              <a:t> Detection Through Structural Features of QR," </a:t>
            </a:r>
            <a:r>
              <a:rPr lang="en-US" sz="1600" dirty="0" err="1">
                <a:solidFill>
                  <a:schemeClr val="dk1"/>
                </a:solidFill>
                <a:latin typeface="Proxima Nova"/>
                <a:ea typeface="Proxima Nova"/>
                <a:cs typeface="Proxima Nova"/>
                <a:sym typeface="Proxima Nova"/>
              </a:rPr>
              <a:t>arXiv</a:t>
            </a:r>
            <a:r>
              <a:rPr lang="en-US" sz="1600" dirty="0">
                <a:solidFill>
                  <a:schemeClr val="dk1"/>
                </a:solidFill>
                <a:latin typeface="Proxima Nova"/>
                <a:ea typeface="Proxima Nova"/>
                <a:cs typeface="Proxima Nova"/>
                <a:sym typeface="Proxima Nova"/>
              </a:rPr>
              <a:t> preprint arXiv:2510.17175, 2025.</a:t>
            </a:r>
          </a:p>
          <a:p>
            <a:pPr lvl="0" algn="just">
              <a:lnSpc>
                <a:spcPct val="150000"/>
              </a:lnSpc>
              <a:buSzPts val="1600"/>
            </a:pPr>
            <a:r>
              <a:rPr lang="en-US" sz="1600" b="1" dirty="0">
                <a:solidFill>
                  <a:schemeClr val="dk1"/>
                </a:solidFill>
                <a:latin typeface="Proxima Nova"/>
                <a:ea typeface="Proxima Nova"/>
                <a:cs typeface="Proxima Nova"/>
                <a:sym typeface="Proxima Nova"/>
              </a:rPr>
              <a:t>[8] </a:t>
            </a:r>
            <a:r>
              <a:rPr lang="en-US" sz="1600" dirty="0">
                <a:solidFill>
                  <a:schemeClr val="dk1"/>
                </a:solidFill>
                <a:latin typeface="Proxima Nova"/>
                <a:ea typeface="Proxima Nova"/>
                <a:cs typeface="Proxima Nova"/>
                <a:sym typeface="Proxima Nova"/>
              </a:rPr>
              <a:t>F. Ahmed, I. Fatima, M. U. Hassan, I. Rasheed, and U. Fayyaz, "Malicious QR Code Detection: A Comprehensive Review of Methods and Challenges," Spectrum of Engineering Sciences, vol. 3, no. 12, pp. 1462-1472, 2025, </a:t>
            </a:r>
            <a:r>
              <a:rPr lang="en-US" sz="1600" dirty="0" err="1">
                <a:solidFill>
                  <a:schemeClr val="dk1"/>
                </a:solidFill>
                <a:latin typeface="Proxima Nova"/>
                <a:ea typeface="Proxima Nova"/>
                <a:cs typeface="Proxima Nova"/>
                <a:sym typeface="Proxima Nova"/>
              </a:rPr>
              <a:t>doi</a:t>
            </a:r>
            <a:r>
              <a:rPr lang="en-US" sz="1600" dirty="0">
                <a:solidFill>
                  <a:schemeClr val="dk1"/>
                </a:solidFill>
                <a:latin typeface="Proxima Nova"/>
                <a:ea typeface="Proxima Nova"/>
                <a:cs typeface="Proxima Nova"/>
                <a:sym typeface="Proxima Nova"/>
              </a:rPr>
              <a:t>: 10.5281/zenodo.18196524.</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[9]</a:t>
            </a:r>
            <a:r>
              <a:rPr lang="en-US" sz="1600" i="0" u="none" strike="noStrike" cap="none" dirty="0">
                <a:solidFill>
                  <a:schemeClr val="dk1"/>
                </a:solidFill>
                <a:latin typeface="Proxima Nova"/>
                <a:ea typeface="Proxima Nova"/>
                <a:cs typeface="Proxima Nova"/>
                <a:sym typeface="Proxima Nova"/>
              </a:rPr>
              <a:t> N. Nigam and R. Bhandari, "Performance Analysis of QR Phishing Detection Approaches," Journal of Information Systems Engineering and Management, vol. 10, no. 335, pp. 221-225, 2025.</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[10] </a:t>
            </a:r>
            <a:r>
              <a:rPr lang="en-US" sz="1600" i="0" u="none" strike="noStrike" cap="none" dirty="0">
                <a:solidFill>
                  <a:schemeClr val="dk1"/>
                </a:solidFill>
                <a:latin typeface="Proxima Nova"/>
                <a:ea typeface="Proxima Nova"/>
                <a:cs typeface="Proxima Nova"/>
                <a:sym typeface="Proxima Nova"/>
              </a:rPr>
              <a:t>B. K. S., R. B. Bhuvaneshwari, P. S. Pavan, H. S. Varun, and J. G. C., "AI Based QR Code Fraud Detection System," International Journal of Innovative Research in Science, Engineering and Technology (IJIRSET), vol. 14, no. 12, pp. 22809-22815, 2025, </a:t>
            </a:r>
            <a:r>
              <a:rPr lang="en-US" sz="1600" i="0" u="none" strike="noStrike" cap="none" dirty="0" err="1">
                <a:solidFill>
                  <a:schemeClr val="dk1"/>
                </a:solidFill>
                <a:latin typeface="Proxima Nova"/>
                <a:ea typeface="Proxima Nova"/>
                <a:cs typeface="Proxima Nova"/>
                <a:sym typeface="Proxima Nova"/>
              </a:rPr>
              <a:t>doi</a:t>
            </a:r>
            <a:r>
              <a:rPr lang="en-US" sz="1600" i="0" u="none" strike="noStrike" cap="none" dirty="0">
                <a:solidFill>
                  <a:schemeClr val="dk1"/>
                </a:solidFill>
                <a:latin typeface="Proxima Nova"/>
                <a:ea typeface="Proxima Nova"/>
                <a:cs typeface="Proxima Nova"/>
                <a:sym typeface="Proxima Nova"/>
              </a:rPr>
              <a:t>: 10.15680/IJIRSET.2025.1412039.</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[11] </a:t>
            </a:r>
            <a:r>
              <a:rPr lang="en-US" sz="1600" i="0" u="none" strike="noStrike" cap="none" dirty="0">
                <a:solidFill>
                  <a:schemeClr val="dk1"/>
                </a:solidFill>
                <a:latin typeface="Proxima Nova"/>
                <a:ea typeface="Proxima Nova"/>
                <a:cs typeface="Proxima Nova"/>
                <a:sym typeface="Proxima Nova"/>
              </a:rPr>
              <a:t>R. </a:t>
            </a:r>
            <a:r>
              <a:rPr lang="en-US" sz="1600" i="0" u="none" strike="noStrike" cap="none" dirty="0" err="1">
                <a:solidFill>
                  <a:schemeClr val="dk1"/>
                </a:solidFill>
                <a:latin typeface="Proxima Nova"/>
                <a:ea typeface="Proxima Nova"/>
                <a:cs typeface="Proxima Nova"/>
                <a:sym typeface="Proxima Nova"/>
              </a:rPr>
              <a:t>Osari</a:t>
            </a:r>
            <a:r>
              <a:rPr lang="en-US" sz="1600" i="0" u="none" strike="noStrike" cap="none" dirty="0">
                <a:solidFill>
                  <a:schemeClr val="dk1"/>
                </a:solidFill>
                <a:latin typeface="Proxima Nova"/>
                <a:ea typeface="Proxima Nova"/>
                <a:cs typeface="Proxima Nova"/>
                <a:sym typeface="Proxima Nova"/>
              </a:rPr>
              <a:t>, K. K. </a:t>
            </a:r>
            <a:r>
              <a:rPr lang="en-US" sz="1600" i="0" u="none" strike="noStrike" cap="none" dirty="0" err="1">
                <a:solidFill>
                  <a:schemeClr val="dk1"/>
                </a:solidFill>
                <a:latin typeface="Proxima Nova"/>
                <a:ea typeface="Proxima Nova"/>
                <a:cs typeface="Proxima Nova"/>
                <a:sym typeface="Proxima Nova"/>
              </a:rPr>
              <a:t>Baraskar</a:t>
            </a:r>
            <a:r>
              <a:rPr lang="en-US" sz="1600" i="0" u="none" strike="noStrike" cap="none" dirty="0">
                <a:solidFill>
                  <a:schemeClr val="dk1"/>
                </a:solidFill>
                <a:latin typeface="Proxima Nova"/>
                <a:ea typeface="Proxima Nova"/>
                <a:cs typeface="Proxima Nova"/>
                <a:sym typeface="Proxima Nova"/>
              </a:rPr>
              <a:t>, G. </a:t>
            </a:r>
            <a:r>
              <a:rPr lang="en-US" sz="1600" i="0" u="none" strike="noStrike" cap="none" dirty="0" err="1">
                <a:solidFill>
                  <a:schemeClr val="dk1"/>
                </a:solidFill>
                <a:latin typeface="Proxima Nova"/>
                <a:ea typeface="Proxima Nova"/>
                <a:cs typeface="Proxima Nova"/>
                <a:sym typeface="Proxima Nova"/>
              </a:rPr>
              <a:t>Silakari</a:t>
            </a:r>
            <a:r>
              <a:rPr lang="en-US" sz="1600" i="0" u="none" strike="noStrike" cap="none" dirty="0">
                <a:solidFill>
                  <a:schemeClr val="dk1"/>
                </a:solidFill>
                <a:latin typeface="Proxima Nova"/>
                <a:ea typeface="Proxima Nova"/>
                <a:cs typeface="Proxima Nova"/>
                <a:sym typeface="Proxima Nova"/>
              </a:rPr>
              <a:t>, P. Jain, P. Jain, and P. Verma, "Design and Analysis of Machine learning based QR Phishing Detection System," International Journal of Advanced Research in Science, Communication and Technology (IJARSCT), vol. 5, no. 12, pp. 67-76, 2025, </a:t>
            </a:r>
            <a:r>
              <a:rPr lang="en-US" sz="1600" i="0" u="none" strike="noStrike" cap="none" dirty="0" err="1">
                <a:solidFill>
                  <a:schemeClr val="dk1"/>
                </a:solidFill>
                <a:latin typeface="Proxima Nova"/>
                <a:ea typeface="Proxima Nova"/>
                <a:cs typeface="Proxima Nova"/>
                <a:sym typeface="Proxima Nova"/>
              </a:rPr>
              <a:t>doi</a:t>
            </a:r>
            <a:r>
              <a:rPr lang="en-US" sz="1600" i="0" u="none" strike="noStrike" cap="none" dirty="0">
                <a:solidFill>
                  <a:schemeClr val="dk1"/>
                </a:solidFill>
                <a:latin typeface="Proxima Nova"/>
                <a:ea typeface="Proxima Nova"/>
                <a:cs typeface="Proxima Nova"/>
                <a:sym typeface="Proxima Nova"/>
              </a:rPr>
              <a:t>: 10.48175/IJARSCT-25909.</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[12] </a:t>
            </a:r>
            <a:r>
              <a:rPr lang="en-US" sz="1600" i="0" u="none" strike="noStrike" cap="none" dirty="0">
                <a:solidFill>
                  <a:schemeClr val="dk1"/>
                </a:solidFill>
                <a:latin typeface="Proxima Nova"/>
                <a:ea typeface="Proxima Nova"/>
                <a:cs typeface="Proxima Nova"/>
                <a:sym typeface="Proxima Nova"/>
              </a:rPr>
              <a:t>M. </a:t>
            </a:r>
            <a:r>
              <a:rPr lang="en-US" sz="1600" i="0" u="none" strike="noStrike" cap="none" dirty="0" err="1">
                <a:solidFill>
                  <a:schemeClr val="dk1"/>
                </a:solidFill>
                <a:latin typeface="Proxima Nova"/>
                <a:ea typeface="Proxima Nova"/>
                <a:cs typeface="Proxima Nova"/>
                <a:sym typeface="Proxima Nova"/>
              </a:rPr>
              <a:t>Sarkhi</a:t>
            </a:r>
            <a:r>
              <a:rPr lang="en-US" sz="1600" i="0" u="none" strike="noStrike" cap="none" dirty="0">
                <a:solidFill>
                  <a:schemeClr val="dk1"/>
                </a:solidFill>
                <a:latin typeface="Proxima Nova"/>
                <a:ea typeface="Proxima Nova"/>
                <a:cs typeface="Proxima Nova"/>
                <a:sym typeface="Proxima Nova"/>
              </a:rPr>
              <a:t> and S. Mishra, "Detection of QR Code-based Cyberattacks using a Lightweight Deep Learning Model," Engineering, Technology &amp; Applied Science Research, vol. 14, pp. 15209–15216, 2024.</a:t>
            </a:r>
          </a:p>
        </p:txBody>
      </p:sp>
    </p:spTree>
    <p:extLst>
      <p:ext uri="{BB962C8B-B14F-4D97-AF65-F5344CB8AC3E}">
        <p14:creationId xmlns:p14="http://schemas.microsoft.com/office/powerpoint/2010/main" val="860761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a:extLst>
            <a:ext uri="{FF2B5EF4-FFF2-40B4-BE49-F238E27FC236}">
              <a16:creationId xmlns:a16="http://schemas.microsoft.com/office/drawing/2014/main" id="{53B5A5DC-1AA0-7757-43C1-BCA8A7224C5A}"/>
            </a:ext>
          </a:extLst>
        </p:cNvPr>
        <p:cNvGrpSpPr/>
        <p:nvPr/>
      </p:nvGrpSpPr>
      <p:grpSpPr>
        <a:xfrm>
          <a:off x="0" y="0"/>
          <a:ext cx="0" cy="0"/>
          <a:chOff x="0" y="0"/>
          <a:chExt cx="0" cy="0"/>
        </a:xfrm>
      </p:grpSpPr>
      <p:sp>
        <p:nvSpPr>
          <p:cNvPr id="203" name="Google Shape;203;p5">
            <a:extLst>
              <a:ext uri="{FF2B5EF4-FFF2-40B4-BE49-F238E27FC236}">
                <a16:creationId xmlns:a16="http://schemas.microsoft.com/office/drawing/2014/main" id="{833E34A5-EE5A-BFB0-D3D4-E7395199375B}"/>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04" name="Google Shape;204;p5">
            <a:extLst>
              <a:ext uri="{FF2B5EF4-FFF2-40B4-BE49-F238E27FC236}">
                <a16:creationId xmlns:a16="http://schemas.microsoft.com/office/drawing/2014/main" id="{8B3D2E4B-1583-1B78-49B6-EDF423EB5C75}"/>
              </a:ext>
            </a:extLst>
          </p:cNvPr>
          <p:cNvSpPr txBox="1"/>
          <p:nvPr/>
        </p:nvSpPr>
        <p:spPr>
          <a:xfrm>
            <a:off x="633450" y="1048550"/>
            <a:ext cx="10938900" cy="4985950"/>
          </a:xfrm>
          <a:prstGeom prst="rect">
            <a:avLst/>
          </a:prstGeom>
          <a:noFill/>
          <a:ln>
            <a:noFill/>
          </a:ln>
        </p:spPr>
        <p:txBody>
          <a:bodyPr spcFirstLastPara="1" wrap="square" lIns="91425" tIns="91425" rIns="91425" bIns="91425" anchor="t" anchorCtr="0">
            <a:spAutoFit/>
          </a:bodyPr>
          <a:lstStyle/>
          <a:p>
            <a:pPr lvl="0" algn="just">
              <a:lnSpc>
                <a:spcPct val="150000"/>
              </a:lnSpc>
              <a:buSzPts val="1600"/>
            </a:pPr>
            <a:r>
              <a:rPr lang="en-US" sz="1600" b="1" dirty="0">
                <a:solidFill>
                  <a:schemeClr val="dk1"/>
                </a:solidFill>
                <a:latin typeface="Proxima Nova"/>
                <a:ea typeface="Proxima Nova"/>
                <a:cs typeface="Proxima Nova"/>
                <a:sym typeface="Proxima Nova"/>
              </a:rPr>
              <a:t>[13] </a:t>
            </a:r>
            <a:r>
              <a:rPr lang="en-US" sz="1600" dirty="0">
                <a:solidFill>
                  <a:schemeClr val="dk1"/>
                </a:solidFill>
                <a:latin typeface="Proxima Nova"/>
                <a:ea typeface="Proxima Nova"/>
                <a:cs typeface="Proxima Nova"/>
                <a:sym typeface="Proxima Nova"/>
              </a:rPr>
              <a:t>S. </a:t>
            </a:r>
            <a:r>
              <a:rPr lang="en-US" sz="1600" dirty="0" err="1">
                <a:solidFill>
                  <a:schemeClr val="dk1"/>
                </a:solidFill>
                <a:latin typeface="Proxima Nova"/>
                <a:ea typeface="Proxima Nova"/>
                <a:cs typeface="Proxima Nova"/>
                <a:sym typeface="Proxima Nova"/>
              </a:rPr>
              <a:t>Vaithilingam</a:t>
            </a:r>
            <a:r>
              <a:rPr lang="en-US" sz="1600" dirty="0">
                <a:solidFill>
                  <a:schemeClr val="dk1"/>
                </a:solidFill>
                <a:latin typeface="Proxima Nova"/>
                <a:ea typeface="Proxima Nova"/>
                <a:cs typeface="Proxima Nova"/>
                <a:sym typeface="Proxima Nova"/>
              </a:rPr>
              <a:t> and S. A. M. Shankar, "Enhancing Security in QR Code Technology Using AI: Exploration and Mitigation Strategies," International Journal of Intelligence Science, vol. 14, no. 2, pp. 49–57, 2024.</a:t>
            </a:r>
          </a:p>
          <a:p>
            <a:pPr lvl="0" algn="just">
              <a:lnSpc>
                <a:spcPct val="150000"/>
              </a:lnSpc>
              <a:buSzPts val="1600"/>
            </a:pPr>
            <a:r>
              <a:rPr lang="en-US" sz="1600" b="1" dirty="0">
                <a:solidFill>
                  <a:schemeClr val="dk1"/>
                </a:solidFill>
                <a:latin typeface="Proxima Nova"/>
                <a:ea typeface="Proxima Nova"/>
                <a:cs typeface="Proxima Nova"/>
                <a:sym typeface="Proxima Nova"/>
              </a:rPr>
              <a:t>[14] </a:t>
            </a:r>
            <a:r>
              <a:rPr lang="en-US" sz="1600" dirty="0">
                <a:solidFill>
                  <a:schemeClr val="dk1"/>
                </a:solidFill>
                <a:latin typeface="Proxima Nova"/>
                <a:ea typeface="Proxima Nova"/>
                <a:cs typeface="Proxima Nova"/>
                <a:sym typeface="Proxima Nova"/>
              </a:rPr>
              <a:t>F. </a:t>
            </a:r>
            <a:r>
              <a:rPr lang="en-US" sz="1600" dirty="0" err="1">
                <a:solidFill>
                  <a:schemeClr val="dk1"/>
                </a:solidFill>
                <a:latin typeface="Proxima Nova"/>
                <a:ea typeface="Proxima Nova"/>
                <a:cs typeface="Proxima Nova"/>
                <a:sym typeface="Proxima Nova"/>
              </a:rPr>
              <a:t>Sharevski</a:t>
            </a:r>
            <a:r>
              <a:rPr lang="en-US" sz="1600" dirty="0">
                <a:solidFill>
                  <a:schemeClr val="dk1"/>
                </a:solidFill>
                <a:latin typeface="Proxima Nova"/>
                <a:ea typeface="Proxima Nova"/>
                <a:cs typeface="Proxima Nova"/>
                <a:sym typeface="Proxima Nova"/>
              </a:rPr>
              <a:t>, M. </a:t>
            </a:r>
            <a:r>
              <a:rPr lang="en-US" sz="1600" dirty="0" err="1">
                <a:solidFill>
                  <a:schemeClr val="dk1"/>
                </a:solidFill>
                <a:latin typeface="Proxima Nova"/>
                <a:ea typeface="Proxima Nova"/>
                <a:cs typeface="Proxima Nova"/>
                <a:sym typeface="Proxima Nova"/>
              </a:rPr>
              <a:t>Mossano</a:t>
            </a:r>
            <a:r>
              <a:rPr lang="en-US" sz="1600" dirty="0">
                <a:solidFill>
                  <a:schemeClr val="dk1"/>
                </a:solidFill>
                <a:latin typeface="Proxima Nova"/>
                <a:ea typeface="Proxima Nova"/>
                <a:cs typeface="Proxima Nova"/>
                <a:sym typeface="Proxima Nova"/>
              </a:rPr>
              <a:t>, M. F. Veit, G. Schiefer, and M. </a:t>
            </a:r>
            <a:r>
              <a:rPr lang="en-US" sz="1600" dirty="0" err="1">
                <a:solidFill>
                  <a:schemeClr val="dk1"/>
                </a:solidFill>
                <a:latin typeface="Proxima Nova"/>
                <a:ea typeface="Proxima Nova"/>
                <a:cs typeface="Proxima Nova"/>
                <a:sym typeface="Proxima Nova"/>
              </a:rPr>
              <a:t>Volkamer</a:t>
            </a:r>
            <a:r>
              <a:rPr lang="en-US" sz="1600" dirty="0">
                <a:solidFill>
                  <a:schemeClr val="dk1"/>
                </a:solidFill>
                <a:latin typeface="Proxima Nova"/>
                <a:ea typeface="Proxima Nova"/>
                <a:cs typeface="Proxima Nova"/>
                <a:sym typeface="Proxima Nova"/>
              </a:rPr>
              <a:t>, "Exploring Phishing Threats through QR Codes in Naturalistic Settings," in Proceedings 2024 Symposium on Usable Security, 2024.</a:t>
            </a:r>
          </a:p>
          <a:p>
            <a:pPr lvl="0" algn="just">
              <a:lnSpc>
                <a:spcPct val="150000"/>
              </a:lnSpc>
              <a:buSzPts val="1600"/>
            </a:pPr>
            <a:r>
              <a:rPr lang="en-US" sz="1600" b="1" dirty="0">
                <a:solidFill>
                  <a:schemeClr val="dk1"/>
                </a:solidFill>
                <a:latin typeface="Proxima Nova"/>
                <a:ea typeface="Proxima Nova"/>
                <a:cs typeface="Proxima Nova"/>
                <a:sym typeface="Proxima Nova"/>
              </a:rPr>
              <a:t>[15] </a:t>
            </a:r>
            <a:r>
              <a:rPr lang="en-US" sz="1600" dirty="0">
                <a:solidFill>
                  <a:schemeClr val="dk1"/>
                </a:solidFill>
                <a:latin typeface="Proxima Nova"/>
                <a:ea typeface="Proxima Nova"/>
                <a:cs typeface="Proxima Nova"/>
                <a:sym typeface="Proxima Nova"/>
              </a:rPr>
              <a:t>J. Ford and H. S. Berry, "Feasibility of Machine Learning-Enhanced Detection for QR Code Images in Email-based Threats," 2024 Cyber Awareness and Research Symposium (CARS), Grand Forks, ND, USA, 2024, pp. 1-9, </a:t>
            </a:r>
            <a:r>
              <a:rPr lang="en-US" sz="1600" dirty="0" err="1">
                <a:solidFill>
                  <a:schemeClr val="dk1"/>
                </a:solidFill>
                <a:latin typeface="Proxima Nova"/>
                <a:ea typeface="Proxima Nova"/>
                <a:cs typeface="Proxima Nova"/>
                <a:sym typeface="Proxima Nova"/>
              </a:rPr>
              <a:t>doi</a:t>
            </a:r>
            <a:r>
              <a:rPr lang="en-US" sz="1600" dirty="0">
                <a:solidFill>
                  <a:schemeClr val="dk1"/>
                </a:solidFill>
                <a:latin typeface="Proxima Nova"/>
                <a:ea typeface="Proxima Nova"/>
                <a:cs typeface="Proxima Nova"/>
                <a:sym typeface="Proxima Nova"/>
              </a:rPr>
              <a:t>: 10.1109/CARS61786.2024.10778732</a:t>
            </a:r>
          </a:p>
          <a:p>
            <a:pPr lvl="0" algn="just">
              <a:lnSpc>
                <a:spcPct val="150000"/>
              </a:lnSpc>
              <a:buSzPts val="1600"/>
            </a:pPr>
            <a:r>
              <a:rPr lang="en-US" sz="1600" b="1" dirty="0">
                <a:solidFill>
                  <a:schemeClr val="dk1"/>
                </a:solidFill>
                <a:latin typeface="Proxima Nova"/>
                <a:ea typeface="Proxima Nova"/>
                <a:cs typeface="Proxima Nova"/>
                <a:sym typeface="Proxima Nova"/>
              </a:rPr>
              <a:t>[16] </a:t>
            </a:r>
            <a:r>
              <a:rPr lang="en-US" sz="1600" dirty="0">
                <a:solidFill>
                  <a:schemeClr val="dk1"/>
                </a:solidFill>
                <a:latin typeface="Proxima Nova"/>
                <a:ea typeface="Proxima Nova"/>
                <a:cs typeface="Proxima Nova"/>
                <a:sym typeface="Proxima Nova"/>
              </a:rPr>
              <a:t>M. K. Bhagwani, A. Gangwar, K. Vishwakarma, A. Khare, V. K. Tiwari, and A. Dubey, "Preventing Malware Spread through QR Codes: A Detection and Analysis Approach," J. Eng. Technol. Manage., vol. 73, pp. 1260-1268, Sep. 2024.</a:t>
            </a:r>
            <a:endParaRPr lang="en-US" sz="1600" b="1" i="0" u="none" strike="noStrike" cap="none" dirty="0">
              <a:solidFill>
                <a:schemeClr val="dk1"/>
              </a:solidFill>
              <a:latin typeface="Proxima Nova"/>
              <a:ea typeface="Proxima Nova"/>
              <a:cs typeface="Proxima Nova"/>
              <a:sym typeface="Proxima Nova"/>
            </a:endParaRP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[17]</a:t>
            </a:r>
            <a:r>
              <a:rPr lang="en-US" sz="1600" i="0" u="none" strike="noStrike" cap="none" dirty="0">
                <a:solidFill>
                  <a:schemeClr val="dk1"/>
                </a:solidFill>
                <a:latin typeface="Proxima Nova"/>
                <a:ea typeface="Proxima Nova"/>
                <a:cs typeface="Proxima Nova"/>
                <a:sym typeface="Proxima Nova"/>
              </a:rPr>
              <a:t> S. A. Galadima, M. Shrivastava, and G. Sonowal, "QR Code Phishing: A Review of the Current Attacks and Countermeasures," </a:t>
            </a:r>
            <a:r>
              <a:rPr lang="en-US" sz="1600" i="0" u="none" strike="noStrike" cap="none" dirty="0" err="1">
                <a:solidFill>
                  <a:schemeClr val="dk1"/>
                </a:solidFill>
                <a:latin typeface="Proxima Nova"/>
                <a:ea typeface="Proxima Nova"/>
                <a:cs typeface="Proxima Nova"/>
                <a:sym typeface="Proxima Nova"/>
              </a:rPr>
              <a:t>JuniKhyat</a:t>
            </a:r>
            <a:r>
              <a:rPr lang="en-US" sz="1600" i="0" u="none" strike="noStrike" cap="none" dirty="0">
                <a:solidFill>
                  <a:schemeClr val="dk1"/>
                </a:solidFill>
                <a:latin typeface="Proxima Nova"/>
                <a:ea typeface="Proxima Nova"/>
                <a:cs typeface="Proxima Nova"/>
                <a:sym typeface="Proxima Nova"/>
              </a:rPr>
              <a:t>, vol. 14, no. 9, no. 3, pp. 1-6, Sep. 2024.</a:t>
            </a:r>
          </a:p>
          <a:p>
            <a:pPr marL="0" marR="0" lvl="0" indent="0" algn="just" rtl="0">
              <a:lnSpc>
                <a:spcPct val="150000"/>
              </a:lnSpc>
              <a:spcBef>
                <a:spcPts val="0"/>
              </a:spcBef>
              <a:spcAft>
                <a:spcPts val="0"/>
              </a:spcAft>
              <a:buClr>
                <a:srgbClr val="000000"/>
              </a:buClr>
              <a:buSzPts val="1600"/>
              <a:buFont typeface="Arial"/>
              <a:buNone/>
            </a:pPr>
            <a:r>
              <a:rPr lang="en-US" sz="1600" b="1" i="0" u="none" strike="noStrike" cap="none" dirty="0">
                <a:solidFill>
                  <a:schemeClr val="dk1"/>
                </a:solidFill>
                <a:latin typeface="Proxima Nova"/>
                <a:ea typeface="Proxima Nova"/>
                <a:cs typeface="Proxima Nova"/>
                <a:sym typeface="Proxima Nova"/>
              </a:rPr>
              <a:t>[18] </a:t>
            </a:r>
            <a:r>
              <a:rPr lang="en-US" sz="1600" i="0" u="none" strike="noStrike" cap="none" dirty="0">
                <a:solidFill>
                  <a:schemeClr val="dk1"/>
                </a:solidFill>
                <a:latin typeface="Proxima Nova"/>
                <a:ea typeface="Proxima Nova"/>
                <a:cs typeface="Proxima Nova"/>
                <a:sym typeface="Proxima Nova"/>
              </a:rPr>
              <a:t>K. A. Khalique, "Detecting Phishing URLs in QR codes using Heuristic Techniques," M.S. thesis, School of Computing, National College of Ireland, Dublin, Ireland, Sep. 2023.</a:t>
            </a:r>
          </a:p>
        </p:txBody>
      </p:sp>
    </p:spTree>
    <p:extLst>
      <p:ext uri="{BB962C8B-B14F-4D97-AF65-F5344CB8AC3E}">
        <p14:creationId xmlns:p14="http://schemas.microsoft.com/office/powerpoint/2010/main" val="2797183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a:extLst>
            <a:ext uri="{FF2B5EF4-FFF2-40B4-BE49-F238E27FC236}">
              <a16:creationId xmlns:a16="http://schemas.microsoft.com/office/drawing/2014/main" id="{4B5F29ED-F82F-3AFA-B59D-2122CEA8BCF4}"/>
            </a:ext>
          </a:extLst>
        </p:cNvPr>
        <p:cNvGrpSpPr/>
        <p:nvPr/>
      </p:nvGrpSpPr>
      <p:grpSpPr>
        <a:xfrm>
          <a:off x="0" y="0"/>
          <a:ext cx="0" cy="0"/>
          <a:chOff x="0" y="0"/>
          <a:chExt cx="0" cy="0"/>
        </a:xfrm>
      </p:grpSpPr>
      <p:sp>
        <p:nvSpPr>
          <p:cNvPr id="203" name="Google Shape;203;p5">
            <a:extLst>
              <a:ext uri="{FF2B5EF4-FFF2-40B4-BE49-F238E27FC236}">
                <a16:creationId xmlns:a16="http://schemas.microsoft.com/office/drawing/2014/main" id="{8DA43354-3ED0-AB12-31AE-1EF242B16BF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a:solidFill>
                  <a:srgbClr val="04A2B9"/>
                </a:solidFill>
                <a:latin typeface="Proxima Nova"/>
                <a:ea typeface="Proxima Nova"/>
                <a:cs typeface="Proxima Nova"/>
                <a:sym typeface="Proxima Nova"/>
              </a:rPr>
              <a:t>References</a:t>
            </a:r>
            <a:endParaRPr sz="2400" b="1">
              <a:latin typeface="Proxima Nova"/>
              <a:ea typeface="Proxima Nova"/>
              <a:cs typeface="Proxima Nova"/>
              <a:sym typeface="Proxima Nova"/>
            </a:endParaRPr>
          </a:p>
        </p:txBody>
      </p:sp>
      <p:sp>
        <p:nvSpPr>
          <p:cNvPr id="204" name="Google Shape;204;p5">
            <a:extLst>
              <a:ext uri="{FF2B5EF4-FFF2-40B4-BE49-F238E27FC236}">
                <a16:creationId xmlns:a16="http://schemas.microsoft.com/office/drawing/2014/main" id="{75884AFC-9F5C-9EBB-ED3F-AA9907C718D5}"/>
              </a:ext>
            </a:extLst>
          </p:cNvPr>
          <p:cNvSpPr txBox="1"/>
          <p:nvPr/>
        </p:nvSpPr>
        <p:spPr>
          <a:xfrm>
            <a:off x="633450" y="1048550"/>
            <a:ext cx="10938900" cy="2031295"/>
          </a:xfrm>
          <a:prstGeom prst="rect">
            <a:avLst/>
          </a:prstGeom>
          <a:noFill/>
          <a:ln>
            <a:noFill/>
          </a:ln>
        </p:spPr>
        <p:txBody>
          <a:bodyPr spcFirstLastPara="1" wrap="square" lIns="91425" tIns="91425" rIns="91425" bIns="91425" anchor="t" anchorCtr="0">
            <a:spAutoFit/>
          </a:bodyPr>
          <a:lstStyle/>
          <a:p>
            <a:pPr lvl="0" algn="just">
              <a:lnSpc>
                <a:spcPct val="150000"/>
              </a:lnSpc>
              <a:buSzPts val="1600"/>
            </a:pPr>
            <a:r>
              <a:rPr lang="en-US" sz="1600" b="1" dirty="0">
                <a:solidFill>
                  <a:schemeClr val="dk1"/>
                </a:solidFill>
                <a:latin typeface="Proxima Nova"/>
                <a:ea typeface="Proxima Nova"/>
                <a:cs typeface="Proxima Nova"/>
                <a:sym typeface="Proxima Nova"/>
              </a:rPr>
              <a:t>[19] </a:t>
            </a:r>
            <a:r>
              <a:rPr lang="en-US" sz="1600" dirty="0">
                <a:solidFill>
                  <a:schemeClr val="dk1"/>
                </a:solidFill>
                <a:latin typeface="Proxima Nova"/>
                <a:ea typeface="Proxima Nova"/>
                <a:cs typeface="Proxima Nova"/>
                <a:sym typeface="Proxima Nova"/>
              </a:rPr>
              <a:t>S. Dhanraj, N. B. B. K, N. A. Jain, M. Manisha, and M. Keerthana, "Malicious URL Detection Using Machine Learning and Deep Learning," Int. J. Adv. Res. </a:t>
            </a:r>
            <a:r>
              <a:rPr lang="en-US" sz="1600" dirty="0" err="1">
                <a:solidFill>
                  <a:schemeClr val="dk1"/>
                </a:solidFill>
                <a:latin typeface="Proxima Nova"/>
                <a:ea typeface="Proxima Nova"/>
                <a:cs typeface="Proxima Nova"/>
                <a:sym typeface="Proxima Nova"/>
              </a:rPr>
              <a:t>Comput</a:t>
            </a:r>
            <a:r>
              <a:rPr lang="en-US" sz="1600" dirty="0">
                <a:solidFill>
                  <a:schemeClr val="dk1"/>
                </a:solidFill>
                <a:latin typeface="Proxima Nova"/>
                <a:ea typeface="Proxima Nova"/>
                <a:cs typeface="Proxima Nova"/>
                <a:sym typeface="Proxima Nova"/>
              </a:rPr>
              <a:t>. Commun. Eng., vol. 12, no. 2, pp. 109-113, Feb. 2023, </a:t>
            </a:r>
            <a:r>
              <a:rPr lang="en-US" sz="1600" dirty="0" err="1">
                <a:solidFill>
                  <a:schemeClr val="dk1"/>
                </a:solidFill>
                <a:latin typeface="Proxima Nova"/>
                <a:ea typeface="Proxima Nova"/>
                <a:cs typeface="Proxima Nova"/>
                <a:sym typeface="Proxima Nova"/>
              </a:rPr>
              <a:t>doi</a:t>
            </a:r>
            <a:r>
              <a:rPr lang="en-US" sz="1600" dirty="0">
                <a:solidFill>
                  <a:schemeClr val="dk1"/>
                </a:solidFill>
                <a:latin typeface="Proxima Nova"/>
                <a:ea typeface="Proxima Nova"/>
                <a:cs typeface="Proxima Nova"/>
                <a:sym typeface="Proxima Nova"/>
              </a:rPr>
              <a:t>: 10.17148/IJARCCE.2023.12223.</a:t>
            </a:r>
          </a:p>
          <a:p>
            <a:pPr lvl="0" algn="just">
              <a:lnSpc>
                <a:spcPct val="150000"/>
              </a:lnSpc>
              <a:buSzPts val="1600"/>
            </a:pPr>
            <a:r>
              <a:rPr lang="en-US" sz="1600" b="1" dirty="0">
                <a:solidFill>
                  <a:schemeClr val="dk1"/>
                </a:solidFill>
                <a:latin typeface="Proxima Nova"/>
                <a:ea typeface="Proxima Nova"/>
                <a:cs typeface="Proxima Nova"/>
                <a:sym typeface="Proxima Nova"/>
              </a:rPr>
              <a:t>[20] </a:t>
            </a:r>
            <a:r>
              <a:rPr lang="en-US" sz="1600" dirty="0">
                <a:solidFill>
                  <a:schemeClr val="dk1"/>
                </a:solidFill>
                <a:latin typeface="Proxima Nova"/>
                <a:ea typeface="Proxima Nova"/>
                <a:cs typeface="Proxima Nova"/>
                <a:sym typeface="Proxima Nova"/>
              </a:rPr>
              <a:t>B. </a:t>
            </a:r>
            <a:r>
              <a:rPr lang="en-US" sz="1600" dirty="0" err="1">
                <a:solidFill>
                  <a:schemeClr val="dk1"/>
                </a:solidFill>
                <a:latin typeface="Proxima Nova"/>
                <a:ea typeface="Proxima Nova"/>
                <a:cs typeface="Proxima Nova"/>
                <a:sym typeface="Proxima Nova"/>
              </a:rPr>
              <a:t>Herlina</a:t>
            </a:r>
            <a:r>
              <a:rPr lang="en-US" sz="1600" dirty="0">
                <a:solidFill>
                  <a:schemeClr val="dk1"/>
                </a:solidFill>
                <a:latin typeface="Proxima Nova"/>
                <a:ea typeface="Proxima Nova"/>
                <a:cs typeface="Proxima Nova"/>
                <a:sym typeface="Proxima Nova"/>
              </a:rPr>
              <a:t> and H. Soeparno, "Machine Learning Model to Improve Classification Performance in the Process of Detecting Phishing URLs in QR Codes," J. Theor. Appl. Inf. Technol., vol. 101, no. 18, pp. 5755-5765, Sep. 2023.</a:t>
            </a:r>
          </a:p>
        </p:txBody>
      </p:sp>
    </p:spTree>
    <p:extLst>
      <p:ext uri="{BB962C8B-B14F-4D97-AF65-F5344CB8AC3E}">
        <p14:creationId xmlns:p14="http://schemas.microsoft.com/office/powerpoint/2010/main" val="3446575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8"/>
        <p:cNvGrpSpPr/>
        <p:nvPr/>
      </p:nvGrpSpPr>
      <p:grpSpPr>
        <a:xfrm>
          <a:off x="0" y="0"/>
          <a:ext cx="0" cy="0"/>
          <a:chOff x="0" y="0"/>
          <a:chExt cx="0" cy="0"/>
        </a:xfrm>
      </p:grpSpPr>
      <p:sp>
        <p:nvSpPr>
          <p:cNvPr id="209" name="Google Shape;209;p6"/>
          <p:cNvSpPr txBox="1"/>
          <p:nvPr/>
        </p:nvSpPr>
        <p:spPr>
          <a:xfrm>
            <a:off x="4595825" y="2967350"/>
            <a:ext cx="3000300" cy="923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1" i="0" u="none" strike="noStrike" cap="none">
                <a:solidFill>
                  <a:schemeClr val="dk1"/>
                </a:solidFill>
                <a:latin typeface="Arial"/>
                <a:ea typeface="Arial"/>
                <a:cs typeface="Arial"/>
                <a:sym typeface="Arial"/>
              </a:rPr>
              <a:t>Q&amp;A</a:t>
            </a:r>
            <a:endParaRPr sz="4800" b="1" i="0" u="none" strike="noStrike" cap="none">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3185</Words>
  <Application>Microsoft Office PowerPoint</Application>
  <PresentationFormat>Widescreen</PresentationFormat>
  <Paragraphs>337</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Proxima Nova</vt:lpstr>
      <vt:lpstr>Arial</vt:lpstr>
      <vt:lpstr>Calibri</vt:lpstr>
      <vt:lpstr>Office Theme</vt:lpstr>
      <vt:lpstr>PowerPoint Presentation</vt:lpstr>
      <vt:lpstr>PowerPoint Presentation</vt:lpstr>
      <vt:lpstr>Outline</vt:lpstr>
      <vt:lpstr>Abstract</vt:lpstr>
      <vt:lpstr>Introduction to Domain – Cyber Security</vt:lpstr>
      <vt:lpstr>Introduction to Sub-Domain – Quishing Detection</vt:lpstr>
      <vt:lpstr>How Attack Works</vt:lpstr>
      <vt:lpstr>How Attack Works</vt:lpstr>
      <vt:lpstr>Problem Statement</vt:lpstr>
      <vt:lpstr>Literature Review</vt:lpstr>
      <vt:lpstr>Literature Review</vt:lpstr>
      <vt:lpstr>Literature Review</vt:lpstr>
      <vt:lpstr>Literature Review</vt:lpstr>
      <vt:lpstr>Existing Models VS Our Models</vt:lpstr>
      <vt:lpstr>Dataset Details</vt:lpstr>
      <vt:lpstr>Proposed Methodology</vt:lpstr>
      <vt:lpstr>Proposed Methodology</vt:lpstr>
      <vt:lpstr>Tools &amp; Technologies Used</vt:lpstr>
      <vt:lpstr>Model Result (Confusion Matrix)</vt:lpstr>
      <vt:lpstr>Model Result (Confusion Matrix)</vt:lpstr>
      <vt:lpstr>Model Result (ROC Curve)</vt:lpstr>
      <vt:lpstr>Model Result (Comparision Table)</vt:lpstr>
      <vt:lpstr>Model Result (Testing)</vt:lpstr>
      <vt:lpstr>Conclusion</vt:lpstr>
      <vt:lpstr>Future Scope</vt:lpstr>
      <vt:lpstr>References</vt:lpstr>
      <vt:lpstr>References</vt:lpstr>
      <vt:lpstr>References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YASH TALAVIYA</cp:lastModifiedBy>
  <cp:revision>1</cp:revision>
  <dcterms:created xsi:type="dcterms:W3CDTF">2023-12-05T07:58:00Z</dcterms:created>
  <dcterms:modified xsi:type="dcterms:W3CDTF">2026-07-08T10:27:41Z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1033-12.2.0.23196</vt:lpwstr>
  </property>
</Properties>
</file>